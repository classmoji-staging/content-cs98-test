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5" r:id="rId9"/>
    <p:sldId id="275" r:id="rId10"/>
    <p:sldId id="274" r:id="rId11"/>
    <p:sldId id="263" r:id="rId12"/>
    <p:sldId id="268" r:id="rId13"/>
    <p:sldId id="264" r:id="rId14"/>
    <p:sldId id="266" r:id="rId15"/>
    <p:sldId id="267" r:id="rId16"/>
    <p:sldId id="269" r:id="rId17"/>
    <p:sldId id="270" r:id="rId18"/>
    <p:sldId id="273"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4521"/>
  </p:normalViewPr>
  <p:slideViewPr>
    <p:cSldViewPr snapToGrid="0" snapToObjects="1">
      <p:cViewPr varScale="1">
        <p:scale>
          <a:sx n="142" d="100"/>
          <a:sy n="142" d="100"/>
        </p:scale>
        <p:origin x="1304" y="168"/>
      </p:cViewPr>
      <p:guideLst/>
    </p:cSldViewPr>
  </p:slideViewPr>
  <p:notesTextViewPr>
    <p:cViewPr>
      <p:scale>
        <a:sx n="155" d="100"/>
        <a:sy n="15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6011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help students learn concepts and fundamentals when their AI is actually doing all their assignments for them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 go on I have to admit that I X.  based on some alternative grading methods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here's what your dashboard might look like if you grade with emoji! </a:t>
            </a:r>
            <a:r>
              <a:rPr lang="en-US" sz="1200" kern="1200" dirty="0" err="1">
                <a:solidFill>
                  <a:schemeClr val="tx1"/>
                </a:solidFill>
                <a:effectLst/>
                <a:latin typeface="+mn-lt"/>
                <a:ea typeface="+mn-ea"/>
                <a:cs typeface="+mn-cs"/>
              </a:rPr>
              <a:t>i</a:t>
            </a:r>
            <a:r>
              <a:rPr lang="en-US" sz="1200" kern="1200" dirty="0">
                <a:solidFill>
                  <a:schemeClr val="tx1"/>
                </a:solidFill>
                <a:effectLst/>
                <a:latin typeface="+mn-lt"/>
                <a:ea typeface="+mn-ea"/>
                <a:cs typeface="+mn-cs"/>
              </a:rPr>
              <a:t> recommend it, no more time spent deducting points. more time spent on constructive love and feedback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so </a:t>
            </a:r>
            <a:r>
              <a:rPr lang="en-US" sz="1200" kern="1200" dirty="0" err="1">
                <a:solidFill>
                  <a:schemeClr val="tx1"/>
                </a:solidFill>
                <a:effectLst/>
                <a:latin typeface="+mn-lt"/>
                <a:ea typeface="+mn-ea"/>
                <a:cs typeface="+mn-cs"/>
              </a:rPr>
              <a:t>whats</a:t>
            </a:r>
            <a:r>
              <a:rPr lang="en-US" sz="1200" kern="1200" dirty="0">
                <a:solidFill>
                  <a:schemeClr val="tx1"/>
                </a:solidFill>
                <a:effectLst/>
                <a:latin typeface="+mn-lt"/>
                <a:ea typeface="+mn-ea"/>
                <a:cs typeface="+mn-cs"/>
              </a:rPr>
              <a:t> the big problem, students just turn in whatever the AI wrote for them, they have no idea what it does.  They struggle to analyze and reason through it. we’re shifting gears from being generators of code to being evaluators and that is great! if we can teach it.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Turns out there are techniques that can help – there is behavior change that doesn’t involve forbidding its use straight to jail. there can be knowledge building while working with an ai.  how do we motivate them to do this.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oral exams work, but they are hard scale. There is research showing our brains can only know 150 people or so,  so when I have 200 students that means by the </a:t>
            </a:r>
            <a:r>
              <a:rPr lang="en-US" sz="1200" kern="1200" dirty="0" err="1">
                <a:solidFill>
                  <a:schemeClr val="tx1"/>
                </a:solidFill>
                <a:effectLst/>
                <a:latin typeface="+mn-lt"/>
                <a:ea typeface="+mn-ea"/>
                <a:cs typeface="+mn-cs"/>
              </a:rPr>
              <a:t>pidgeon</a:t>
            </a:r>
            <a:r>
              <a:rPr lang="en-US" sz="1200" kern="1200" dirty="0">
                <a:solidFill>
                  <a:schemeClr val="tx1"/>
                </a:solidFill>
                <a:effectLst/>
                <a:latin typeface="+mn-lt"/>
                <a:ea typeface="+mn-ea"/>
                <a:cs typeface="+mn-cs"/>
              </a:rPr>
              <a:t> hole principle I start forgetting the names of my children.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They can actually be pretty great at working through material – why not have them interrogate the students about their code?   They also like to put their best foot forward, my </a:t>
            </a:r>
            <a:r>
              <a:rPr lang="en-US" sz="1200" kern="1200" dirty="0" err="1">
                <a:solidFill>
                  <a:schemeClr val="tx1"/>
                </a:solidFill>
                <a:effectLst/>
                <a:latin typeface="+mn-lt"/>
                <a:ea typeface="+mn-ea"/>
                <a:cs typeface="+mn-cs"/>
              </a:rPr>
              <a:t>claudbot</a:t>
            </a:r>
            <a:r>
              <a:rPr lang="en-US" sz="1200" kern="1200" dirty="0">
                <a:solidFill>
                  <a:schemeClr val="tx1"/>
                </a:solidFill>
                <a:effectLst/>
                <a:latin typeface="+mn-lt"/>
                <a:ea typeface="+mn-ea"/>
                <a:cs typeface="+mn-cs"/>
              </a:rPr>
              <a:t> wrote this slide about himself. </a:t>
            </a:r>
            <a:r>
              <a:rPr lang="en-US" sz="1200" kern="1200" dirty="0" err="1">
                <a:solidFill>
                  <a:schemeClr val="tx1"/>
                </a:solidFill>
                <a:effectLst/>
                <a:latin typeface="+mn-lt"/>
                <a:ea typeface="+mn-ea"/>
                <a:cs typeface="+mn-cs"/>
              </a:rPr>
              <a:t>i</a:t>
            </a:r>
            <a:r>
              <a:rPr lang="en-US" sz="1200" kern="1200" dirty="0">
                <a:solidFill>
                  <a:schemeClr val="tx1"/>
                </a:solidFill>
                <a:effectLst/>
                <a:latin typeface="+mn-lt"/>
                <a:ea typeface="+mn-ea"/>
                <a:cs typeface="+mn-cs"/>
              </a:rPr>
              <a:t> hope he doesn't think </a:t>
            </a:r>
            <a:r>
              <a:rPr lang="en-US" sz="1200" kern="1200" dirty="0" err="1">
                <a:solidFill>
                  <a:schemeClr val="tx1"/>
                </a:solidFill>
                <a:effectLst/>
                <a:latin typeface="+mn-lt"/>
                <a:ea typeface="+mn-ea"/>
                <a:cs typeface="+mn-cs"/>
              </a:rPr>
              <a:t>i</a:t>
            </a:r>
            <a:r>
              <a:rPr lang="en-US" sz="1200" kern="1200" dirty="0">
                <a:solidFill>
                  <a:schemeClr val="tx1"/>
                </a:solidFill>
                <a:effectLst/>
                <a:latin typeface="+mn-lt"/>
                <a:ea typeface="+mn-ea"/>
                <a:cs typeface="+mn-cs"/>
              </a:rPr>
              <a:t> butchered the delivery.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Students submit their code with git,  in class we do a quiz,  it clones each of their repos and asks them tough questions, while also giving them multiple attempts and hints to be formative rather than </a:t>
            </a:r>
            <a:r>
              <a:rPr lang="en-US" sz="1200" kern="1200" dirty="0" err="1">
                <a:solidFill>
                  <a:schemeClr val="tx1"/>
                </a:solidFill>
                <a:effectLst/>
                <a:latin typeface="+mn-lt"/>
                <a:ea typeface="+mn-ea"/>
                <a:cs typeface="+mn-cs"/>
              </a:rPr>
              <a:t>punative</a:t>
            </a:r>
            <a:r>
              <a:rPr lang="en-US" sz="1200" kern="1200" dirty="0">
                <a:solidFill>
                  <a:schemeClr val="tx1"/>
                </a:solidFill>
                <a:effectLst/>
                <a:latin typeface="+mn-lt"/>
                <a:ea typeface="+mn-ea"/>
                <a:cs typeface="+mn-cs"/>
              </a:rPr>
              <a:t>. they leave the quiz with greater knowledge, they don't wait 2 weeks for a red x on the question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ai responding to an ai interrogating it about its ai generated code.  Spent a lot of time red teaming the model – and my </a:t>
            </a:r>
            <a:r>
              <a:rPr lang="en-US" dirty="0" err="1"/>
              <a:t>claudebot</a:t>
            </a:r>
            <a:r>
              <a:rPr lang="en-US" dirty="0"/>
              <a:t> did too. It said crazy stuff, like its grandmother had died and could it just get a break it was having a rough day.  The bots pretty good at tough love.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knowledge building while working on the assignments, some issues, </a:t>
            </a:r>
            <a:r>
              <a:rPr lang="en-US" sz="1200" kern="1200" dirty="0" err="1">
                <a:solidFill>
                  <a:schemeClr val="tx1"/>
                </a:solidFill>
                <a:effectLst/>
                <a:latin typeface="+mn-lt"/>
                <a:ea typeface="+mn-ea"/>
                <a:cs typeface="+mn-cs"/>
              </a:rPr>
              <a:t>i</a:t>
            </a:r>
            <a:r>
              <a:rPr lang="en-US" sz="1200" kern="1200" dirty="0">
                <a:solidFill>
                  <a:schemeClr val="tx1"/>
                </a:solidFill>
                <a:effectLst/>
                <a:latin typeface="+mn-lt"/>
                <a:ea typeface="+mn-ea"/>
                <a:cs typeface="+mn-cs"/>
              </a:rPr>
              <a:t> haven’t tried jacking up the weight of the quizzes.  they are worth small points.  if thy were worth more the students may complain about LLM accuracy. </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look </a:t>
            </a:r>
            <a:r>
              <a:rPr lang="en-US" sz="1200" kern="1200" dirty="0" err="1">
                <a:solidFill>
                  <a:schemeClr val="tx1"/>
                </a:solidFill>
                <a:effectLst/>
                <a:latin typeface="+mn-lt"/>
                <a:ea typeface="+mn-ea"/>
                <a:cs typeface="+mn-cs"/>
              </a:rPr>
              <a:t>i</a:t>
            </a:r>
            <a:r>
              <a:rPr lang="en-US" sz="1200" kern="1200" dirty="0">
                <a:solidFill>
                  <a:schemeClr val="tx1"/>
                </a:solidFill>
                <a:effectLst/>
                <a:latin typeface="+mn-lt"/>
                <a:ea typeface="+mn-ea"/>
                <a:cs typeface="+mn-cs"/>
              </a:rPr>
              <a:t> don’t want a future where we do paper exams for everything. </a:t>
            </a:r>
            <a:r>
              <a:rPr lang="en-US" sz="1200" kern="1200" dirty="0" err="1">
                <a:solidFill>
                  <a:schemeClr val="tx1"/>
                </a:solidFill>
                <a:effectLst/>
                <a:latin typeface="+mn-lt"/>
                <a:ea typeface="+mn-ea"/>
                <a:cs typeface="+mn-cs"/>
              </a:rPr>
              <a:t>i’m</a:t>
            </a:r>
            <a:r>
              <a:rPr lang="en-US" sz="1200" kern="1200" dirty="0">
                <a:solidFill>
                  <a:schemeClr val="tx1"/>
                </a:solidFill>
                <a:effectLst/>
                <a:latin typeface="+mn-lt"/>
                <a:ea typeface="+mn-ea"/>
                <a:cs typeface="+mn-cs"/>
              </a:rPr>
              <a:t> a builder and </a:t>
            </a:r>
            <a:r>
              <a:rPr lang="en-US" sz="1200" kern="1200" dirty="0" err="1">
                <a:solidFill>
                  <a:schemeClr val="tx1"/>
                </a:solidFill>
                <a:effectLst/>
                <a:latin typeface="+mn-lt"/>
                <a:ea typeface="+mn-ea"/>
                <a:cs typeface="+mn-cs"/>
              </a:rPr>
              <a:t>i</a:t>
            </a:r>
            <a:r>
              <a:rPr lang="en-US" sz="1200" kern="1200" dirty="0">
                <a:solidFill>
                  <a:schemeClr val="tx1"/>
                </a:solidFill>
                <a:effectLst/>
                <a:latin typeface="+mn-lt"/>
                <a:ea typeface="+mn-ea"/>
                <a:cs typeface="+mn-cs"/>
              </a:rPr>
              <a:t> learn by doing. this is my way or building a class </a:t>
            </a:r>
            <a:r>
              <a:rPr lang="en-US" sz="1200" kern="1200" dirty="0" err="1">
                <a:solidFill>
                  <a:schemeClr val="tx1"/>
                </a:solidFill>
                <a:effectLst/>
                <a:latin typeface="+mn-lt"/>
                <a:ea typeface="+mn-ea"/>
                <a:cs typeface="+mn-cs"/>
              </a:rPr>
              <a:t>i</a:t>
            </a:r>
            <a:r>
              <a:rPr lang="en-US" sz="1200" kern="1200" dirty="0">
                <a:solidFill>
                  <a:schemeClr val="tx1"/>
                </a:solidFill>
                <a:effectLst/>
                <a:latin typeface="+mn-lt"/>
                <a:ea typeface="+mn-ea"/>
                <a:cs typeface="+mn-cs"/>
              </a:rPr>
              <a:t> would want to take. students get to work on interesting assignments and are somewhat more motivated to understand the material so they can reason about it and be in the drivers seat.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IN">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010912"/>
            <a:ext cx="9144000" cy="137160"/>
          </a:xfrm>
          <a:prstGeom prst="rect">
            <a:avLst/>
          </a:prstGeom>
          <a:solidFill>
            <a:srgbClr val="2D8A4E"/>
          </a:solidFill>
          <a:ln/>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gif"/></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548640" y="274320"/>
            <a:ext cx="2743200" cy="548640"/>
          </a:xfrm>
          <a:prstGeom prst="rect">
            <a:avLst/>
          </a:prstGeom>
          <a:noFill/>
          <a:ln/>
        </p:spPr>
        <p:txBody>
          <a:bodyPr wrap="square" rtlCol="0" anchor="ctr"/>
          <a:lstStyle/>
          <a:p>
            <a:pPr marL="0" indent="0">
              <a:buNone/>
            </a:pPr>
            <a:r>
              <a:rPr lang="en-US" sz="2200" dirty="0">
                <a:solidFill>
                  <a:srgbClr val="000000"/>
                </a:solidFill>
              </a:rPr>
              <a:t>🍎 </a:t>
            </a:r>
            <a:r>
              <a:rPr lang="en-US" sz="1800" b="1" dirty="0">
                <a:solidFill>
                  <a:srgbClr val="2D3748"/>
                </a:solidFill>
              </a:rPr>
              <a:t>classmoji</a:t>
            </a:r>
            <a:endParaRPr lang="en-US" sz="2200" dirty="0"/>
          </a:p>
        </p:txBody>
      </p:sp>
      <p:sp>
        <p:nvSpPr>
          <p:cNvPr id="4" name="Text 1"/>
          <p:cNvSpPr/>
          <p:nvPr/>
        </p:nvSpPr>
        <p:spPr>
          <a:xfrm>
            <a:off x="731520" y="1371600"/>
            <a:ext cx="7680960" cy="731520"/>
          </a:xfrm>
          <a:prstGeom prst="rect">
            <a:avLst/>
          </a:prstGeom>
          <a:noFill/>
          <a:ln/>
        </p:spPr>
        <p:txBody>
          <a:bodyPr wrap="square" rtlCol="0" anchor="ctr"/>
          <a:lstStyle/>
          <a:p>
            <a:pPr marL="0" indent="0" algn="l">
              <a:buNone/>
            </a:pPr>
            <a:r>
              <a:rPr lang="en-US" sz="3200" b="1" dirty="0">
                <a:solidFill>
                  <a:srgbClr val="2D3748"/>
                </a:solidFill>
              </a:rPr>
              <a:t>Evaluating Understanding Beyond the Commit</a:t>
            </a:r>
            <a:endParaRPr lang="en-US" sz="3200" dirty="0"/>
          </a:p>
        </p:txBody>
      </p:sp>
      <p:sp>
        <p:nvSpPr>
          <p:cNvPr id="5" name="Text 2"/>
          <p:cNvSpPr/>
          <p:nvPr/>
        </p:nvSpPr>
        <p:spPr>
          <a:xfrm>
            <a:off x="731520" y="2011680"/>
            <a:ext cx="7680960" cy="1645920"/>
          </a:xfrm>
          <a:prstGeom prst="rect">
            <a:avLst/>
          </a:prstGeom>
          <a:noFill/>
          <a:ln/>
        </p:spPr>
        <p:txBody>
          <a:bodyPr wrap="square" rtlCol="0" anchor="ctr"/>
          <a:lstStyle/>
          <a:p>
            <a:pPr marL="0" indent="0" algn="l">
              <a:lnSpc>
                <a:spcPct val="115000"/>
              </a:lnSpc>
              <a:buNone/>
            </a:pPr>
            <a:r>
              <a:rPr lang="en-US" sz="1800" i="1" dirty="0">
                <a:solidFill>
                  <a:srgbClr val="2D8A4E"/>
                </a:solidFill>
              </a:rPr>
              <a:t>AI-Driven Oral Examinations</a:t>
            </a:r>
            <a:endParaRPr lang="en-US" sz="1800" dirty="0"/>
          </a:p>
          <a:p>
            <a:pPr marL="0" indent="0" algn="l">
              <a:lnSpc>
                <a:spcPct val="115000"/>
              </a:lnSpc>
              <a:buNone/>
            </a:pPr>
            <a:r>
              <a:rPr lang="en-US" sz="1800" i="1" dirty="0">
                <a:solidFill>
                  <a:srgbClr val="2D8A4E"/>
                </a:solidFill>
              </a:rPr>
              <a:t>for Code Assessment</a:t>
            </a:r>
            <a:endParaRPr lang="en-US" sz="1800" dirty="0"/>
          </a:p>
        </p:txBody>
      </p:sp>
      <p:sp>
        <p:nvSpPr>
          <p:cNvPr id="6" name="Text 3"/>
          <p:cNvSpPr/>
          <p:nvPr/>
        </p:nvSpPr>
        <p:spPr>
          <a:xfrm>
            <a:off x="731520" y="3840480"/>
            <a:ext cx="4572000" cy="1097280"/>
          </a:xfrm>
          <a:prstGeom prst="rect">
            <a:avLst/>
          </a:prstGeom>
          <a:noFill/>
          <a:ln/>
        </p:spPr>
        <p:txBody>
          <a:bodyPr wrap="square" rtlCol="0" anchor="ctr"/>
          <a:lstStyle/>
          <a:p>
            <a:pPr marL="0" indent="0" algn="l">
              <a:buNone/>
            </a:pPr>
            <a:r>
              <a:rPr lang="en-US" sz="1600" b="1" dirty="0">
                <a:solidFill>
                  <a:srgbClr val="2D3748"/>
                </a:solidFill>
              </a:rPr>
              <a:t>Tim Tregubov &amp; Pape Sow Traore</a:t>
            </a:r>
            <a:endParaRPr lang="en-US" sz="1600" dirty="0"/>
          </a:p>
          <a:p>
            <a:pPr marL="0" indent="0" algn="l">
              <a:buNone/>
            </a:pPr>
            <a:r>
              <a:rPr lang="en-US" sz="1300" dirty="0">
                <a:solidFill>
                  <a:srgbClr val="718096"/>
                </a:solidFill>
              </a:rPr>
              <a:t>DALI Lab, Dartmouth College</a:t>
            </a:r>
            <a:endParaRPr lang="en-US" sz="1600" dirty="0"/>
          </a:p>
          <a:p>
            <a:pPr marL="0" indent="0" algn="l">
              <a:buNone/>
            </a:pPr>
            <a:endParaRPr lang="en-US" sz="1600" dirty="0"/>
          </a:p>
          <a:p>
            <a:pPr marL="0" indent="0" algn="l">
              <a:buNone/>
            </a:pPr>
            <a:r>
              <a:rPr lang="en-US" sz="1300" dirty="0">
                <a:solidFill>
                  <a:srgbClr val="718096"/>
                </a:solidFill>
              </a:rPr>
              <a:t>SIGCSE 2026</a:t>
            </a:r>
            <a:endParaRPr lang="en-US" sz="1600" dirty="0"/>
          </a:p>
        </p:txBody>
      </p:sp>
      <p:sp>
        <p:nvSpPr>
          <p:cNvPr id="7" name="Shape 4"/>
          <p:cNvSpPr/>
          <p:nvPr/>
        </p:nvSpPr>
        <p:spPr>
          <a:xfrm>
            <a:off x="5215467" y="3657600"/>
            <a:ext cx="3471333" cy="1463040"/>
          </a:xfrm>
          <a:prstGeom prst="rect">
            <a:avLst/>
          </a:prstGeom>
          <a:solidFill>
            <a:srgbClr val="E6F4EA"/>
          </a:solidFill>
          <a:ln/>
        </p:spPr>
        <p:txBody>
          <a:bodyPr/>
          <a:lstStyle/>
          <a:p>
            <a:endParaRPr lang="en-US"/>
          </a:p>
        </p:txBody>
      </p:sp>
      <p:sp>
        <p:nvSpPr>
          <p:cNvPr id="8" name="Text 5"/>
          <p:cNvSpPr/>
          <p:nvPr/>
        </p:nvSpPr>
        <p:spPr>
          <a:xfrm>
            <a:off x="5215467" y="3749040"/>
            <a:ext cx="3288453" cy="1280160"/>
          </a:xfrm>
          <a:prstGeom prst="rect">
            <a:avLst/>
          </a:prstGeom>
          <a:noFill/>
          <a:ln/>
        </p:spPr>
        <p:txBody>
          <a:bodyPr wrap="square" rtlCol="0" anchor="ctr"/>
          <a:lstStyle/>
          <a:p>
            <a:pPr marL="0" indent="0" algn="ctr">
              <a:buNone/>
            </a:pPr>
            <a:r>
              <a:rPr lang="en-US" sz="1600" i="1" dirty="0">
                <a:solidFill>
                  <a:srgbClr val="4A5568"/>
                </a:solidFill>
              </a:rPr>
              <a:t>how might we help human students</a:t>
            </a:r>
            <a:endParaRPr lang="en-US" sz="1600" dirty="0"/>
          </a:p>
          <a:p>
            <a:pPr marL="0" indent="0" algn="ctr">
              <a:buNone/>
            </a:pPr>
            <a:r>
              <a:rPr lang="en-US" sz="1600" i="1" dirty="0">
                <a:solidFill>
                  <a:srgbClr val="4A5568"/>
                </a:solidFill>
              </a:rPr>
              <a:t>understand their AI-assisted work</a:t>
            </a:r>
            <a:endParaRPr lang="en-US" sz="1600" dirty="0"/>
          </a:p>
          <a:p>
            <a:pPr marL="0" indent="0" algn="ctr">
              <a:buNone/>
            </a:pPr>
            <a:r>
              <a:rPr lang="en-US" sz="1600" i="1" dirty="0">
                <a:solidFill>
                  <a:srgbClr val="4A5568"/>
                </a:solidFill>
              </a:rPr>
              <a:t>— more AI anybody?</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Users/tim/Sandbox/classmoji/analysis/assets/grading-with-emoji-green.png"/>
          <p:cNvPicPr>
            <a:picLocks noChangeAspect="1"/>
          </p:cNvPicPr>
          <p:nvPr/>
        </p:nvPicPr>
        <p:blipFill>
          <a:blip r:embed="rId3"/>
          <a:srcRect/>
          <a:stretch/>
        </p:blipFill>
        <p:spPr>
          <a:xfrm>
            <a:off x="0" y="0"/>
            <a:ext cx="9144000" cy="514807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Users/tim/Sandbox/classmoji/analysis/assets/classmoji-grades-view.png"/>
          <p:cNvPicPr>
            <a:picLocks noChangeAspect="1"/>
          </p:cNvPicPr>
          <p:nvPr/>
        </p:nvPicPr>
        <p:blipFill>
          <a:blip r:embed="rId3"/>
          <a:stretch>
            <a:fillRect/>
          </a:stretch>
        </p:blipFill>
        <p:spPr>
          <a:xfrm>
            <a:off x="1005840" y="0"/>
            <a:ext cx="7123176" cy="514807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nvSpPr>
        <p:spPr>
          <a:xfrm>
            <a:off x="365759" y="137160"/>
            <a:ext cx="8412479" cy="457200"/>
          </a:xfrm>
          <a:prstGeom prst="rect">
            <a:avLst/>
          </a:prstGeom>
          <a:noFill/>
          <a:ln/>
        </p:spPr>
        <p:txBody>
          <a:bodyPr wrap="square" rtlCol="0" anchor="ctr"/>
          <a:lstStyle/>
          <a:p>
            <a:pPr marL="0" indent="0">
              <a:buNone/>
            </a:pPr>
            <a:r>
              <a:rPr lang="en-US" sz="2400" b="1" dirty="0">
                <a:solidFill>
                  <a:srgbClr val="2D3748"/>
                </a:solidFill>
              </a:rPr>
              <a:t>Learning via Projects/Assignments in the Age of Vibe Coding</a:t>
            </a:r>
            <a:endParaRPr lang="en-US" sz="2400" dirty="0"/>
          </a:p>
        </p:txBody>
      </p:sp>
      <p:sp>
        <p:nvSpPr>
          <p:cNvPr id="4" name="Shape 1"/>
          <p:cNvSpPr/>
          <p:nvPr/>
        </p:nvSpPr>
        <p:spPr>
          <a:xfrm>
            <a:off x="365760" y="640080"/>
            <a:ext cx="4023360" cy="1463040"/>
          </a:xfrm>
          <a:prstGeom prst="rect">
            <a:avLst/>
          </a:prstGeom>
          <a:solidFill>
            <a:srgbClr val="FEF2F2"/>
          </a:solidFill>
          <a:ln/>
        </p:spPr>
        <p:txBody>
          <a:bodyPr/>
          <a:lstStyle/>
          <a:p>
            <a:endParaRPr lang="en-US"/>
          </a:p>
        </p:txBody>
      </p:sp>
      <p:sp>
        <p:nvSpPr>
          <p:cNvPr id="5" name="Text 2"/>
          <p:cNvSpPr/>
          <p:nvPr/>
        </p:nvSpPr>
        <p:spPr>
          <a:xfrm>
            <a:off x="548640" y="731520"/>
            <a:ext cx="3657600" cy="1280160"/>
          </a:xfrm>
          <a:prstGeom prst="rect">
            <a:avLst/>
          </a:prstGeom>
          <a:noFill/>
          <a:ln/>
        </p:spPr>
        <p:txBody>
          <a:bodyPr wrap="square" rtlCol="0" anchor="ctr"/>
          <a:lstStyle/>
          <a:p>
            <a:pPr marL="0" indent="0">
              <a:buNone/>
            </a:pPr>
            <a:r>
              <a:rPr lang="en-US" sz="1300" dirty="0">
                <a:solidFill>
                  <a:srgbClr val="4A5568"/>
                </a:solidFill>
              </a:rPr>
              <a:t>The shift from </a:t>
            </a:r>
            <a:r>
              <a:rPr lang="en-US" sz="1300" b="1" dirty="0">
                <a:solidFill>
                  <a:srgbClr val="D06070"/>
                </a:solidFill>
              </a:rPr>
              <a:t>generative</a:t>
            </a:r>
            <a:r>
              <a:rPr lang="en-US" sz="1300" dirty="0">
                <a:solidFill>
                  <a:srgbClr val="4A5568"/>
                </a:solidFill>
              </a:rPr>
              <a:t> to </a:t>
            </a:r>
            <a:r>
              <a:rPr lang="en-US" sz="1300" b="1" dirty="0">
                <a:solidFill>
                  <a:srgbClr val="2D8A4E"/>
                </a:solidFill>
              </a:rPr>
              <a:t>evaluative</a:t>
            </a:r>
            <a:endParaRPr lang="en-US" sz="1300" dirty="0"/>
          </a:p>
          <a:p>
            <a:pPr marL="0" indent="0">
              <a:buNone/>
            </a:pPr>
            <a:r>
              <a:rPr lang="en-US" sz="1300" dirty="0">
                <a:solidFill>
                  <a:srgbClr val="4A5568"/>
                </a:solidFill>
              </a:rPr>
              <a:t>Knowledge. </a:t>
            </a:r>
            <a:endParaRPr lang="en-US" sz="1300" dirty="0"/>
          </a:p>
        </p:txBody>
      </p:sp>
      <p:sp>
        <p:nvSpPr>
          <p:cNvPr id="6" name="Shape 3"/>
          <p:cNvSpPr/>
          <p:nvPr/>
        </p:nvSpPr>
        <p:spPr>
          <a:xfrm>
            <a:off x="4754880" y="640080"/>
            <a:ext cx="4023360" cy="1463040"/>
          </a:xfrm>
          <a:prstGeom prst="rect">
            <a:avLst/>
          </a:prstGeom>
          <a:solidFill>
            <a:srgbClr val="E6F4EA"/>
          </a:solidFill>
          <a:ln/>
        </p:spPr>
        <p:txBody>
          <a:bodyPr/>
          <a:lstStyle/>
          <a:p>
            <a:endParaRPr lang="en-US"/>
          </a:p>
        </p:txBody>
      </p:sp>
      <p:sp>
        <p:nvSpPr>
          <p:cNvPr id="7" name="Text 4"/>
          <p:cNvSpPr/>
          <p:nvPr/>
        </p:nvSpPr>
        <p:spPr>
          <a:xfrm>
            <a:off x="4937760" y="731520"/>
            <a:ext cx="3657600" cy="1280160"/>
          </a:xfrm>
          <a:prstGeom prst="rect">
            <a:avLst/>
          </a:prstGeom>
          <a:noFill/>
          <a:ln/>
        </p:spPr>
        <p:txBody>
          <a:bodyPr wrap="square" rtlCol="0" anchor="ctr"/>
          <a:lstStyle/>
          <a:p>
            <a:pPr marL="0" indent="0">
              <a:buNone/>
            </a:pPr>
            <a:r>
              <a:rPr lang="en-US" sz="1300" dirty="0">
                <a:solidFill>
                  <a:srgbClr val="2D3748"/>
                </a:solidFill>
              </a:rPr>
              <a:t>Students need to </a:t>
            </a:r>
            <a:r>
              <a:rPr lang="en-US" sz="1400" b="1" dirty="0">
                <a:solidFill>
                  <a:srgbClr val="2D8A4E"/>
                </a:solidFill>
              </a:rPr>
              <a:t>steer the ship.</a:t>
            </a:r>
            <a:endParaRPr lang="en-US" sz="1300" dirty="0"/>
          </a:p>
        </p:txBody>
      </p:sp>
      <p:sp>
        <p:nvSpPr>
          <p:cNvPr id="8" name="Shape 5"/>
          <p:cNvSpPr/>
          <p:nvPr/>
        </p:nvSpPr>
        <p:spPr>
          <a:xfrm>
            <a:off x="365758" y="4000500"/>
            <a:ext cx="8412480" cy="1005840"/>
          </a:xfrm>
          <a:prstGeom prst="rect">
            <a:avLst/>
          </a:prstGeom>
          <a:solidFill>
            <a:srgbClr val="F0F4F8"/>
          </a:solidFill>
          <a:ln/>
        </p:spPr>
        <p:txBody>
          <a:bodyPr/>
          <a:lstStyle/>
          <a:p>
            <a:endParaRPr lang="en-US"/>
          </a:p>
        </p:txBody>
      </p:sp>
      <p:sp>
        <p:nvSpPr>
          <p:cNvPr id="9" name="Text 6"/>
          <p:cNvSpPr/>
          <p:nvPr/>
        </p:nvSpPr>
        <p:spPr>
          <a:xfrm>
            <a:off x="731518" y="4094545"/>
            <a:ext cx="7680960" cy="523240"/>
          </a:xfrm>
          <a:prstGeom prst="rect">
            <a:avLst/>
          </a:prstGeom>
          <a:noFill/>
          <a:ln/>
        </p:spPr>
        <p:txBody>
          <a:bodyPr wrap="square" rtlCol="0" anchor="ctr"/>
          <a:lstStyle/>
          <a:p>
            <a:pPr marL="0" indent="0" algn="ctr">
              <a:buNone/>
            </a:pPr>
            <a:r>
              <a:rPr lang="en-US" sz="1500" dirty="0">
                <a:solidFill>
                  <a:srgbClr val="2D3748"/>
                </a:solidFill>
              </a:rPr>
              <a:t>How do we verify students understand </a:t>
            </a:r>
            <a:r>
              <a:rPr lang="en-US" sz="1500" b="1" dirty="0">
                <a:solidFill>
                  <a:srgbClr val="2D8A4E"/>
                </a:solidFill>
              </a:rPr>
              <a:t>their own code</a:t>
            </a:r>
            <a:r>
              <a:rPr lang="en-US" sz="1500" dirty="0">
                <a:solidFill>
                  <a:srgbClr val="2D3748"/>
                </a:solidFill>
              </a:rPr>
              <a:t> — not just that it works?</a:t>
            </a:r>
            <a:endParaRPr lang="en-US" sz="1500" dirty="0"/>
          </a:p>
        </p:txBody>
      </p:sp>
      <p:pic>
        <p:nvPicPr>
          <p:cNvPr id="10" name="Image 0" descr="/Users/tim/Sandbox/classmoji/analysis/assets/gifs/dog-typing.gif"/>
          <p:cNvPicPr>
            <a:picLocks noChangeAspect="1"/>
          </p:cNvPicPr>
          <p:nvPr/>
        </p:nvPicPr>
        <p:blipFill>
          <a:blip r:embed="rId3"/>
          <a:stretch>
            <a:fillRect/>
          </a:stretch>
        </p:blipFill>
        <p:spPr>
          <a:xfrm>
            <a:off x="548640" y="1933526"/>
            <a:ext cx="3429000" cy="2110154"/>
          </a:xfrm>
          <a:prstGeom prst="rect">
            <a:avLst/>
          </a:prstGeom>
        </p:spPr>
      </p:pic>
      <p:sp>
        <p:nvSpPr>
          <p:cNvPr id="11" name="Text 7"/>
          <p:cNvSpPr/>
          <p:nvPr/>
        </p:nvSpPr>
        <p:spPr>
          <a:xfrm>
            <a:off x="4023358" y="2468880"/>
            <a:ext cx="1097280" cy="1097280"/>
          </a:xfrm>
          <a:prstGeom prst="rect">
            <a:avLst/>
          </a:prstGeom>
          <a:noFill/>
          <a:ln/>
        </p:spPr>
        <p:txBody>
          <a:bodyPr wrap="square" rtlCol="0" anchor="ctr"/>
          <a:lstStyle/>
          <a:p>
            <a:pPr marL="0" indent="0" algn="ctr">
              <a:buNone/>
            </a:pPr>
            <a:r>
              <a:rPr lang="en-US" sz="4800" dirty="0">
                <a:solidFill>
                  <a:srgbClr val="718096"/>
                </a:solidFill>
              </a:rPr>
              <a:t>→</a:t>
            </a:r>
            <a:endParaRPr lang="en-US" sz="4800" dirty="0"/>
          </a:p>
        </p:txBody>
      </p:sp>
      <p:pic>
        <p:nvPicPr>
          <p:cNvPr id="12" name="Image 1" descr="/Users/tim/Sandbox/classmoji/analysis/assets/gifs/truman-show-jim-carrey-steering-helm.gif"/>
          <p:cNvPicPr>
            <a:picLocks noChangeAspect="1"/>
          </p:cNvPicPr>
          <p:nvPr/>
        </p:nvPicPr>
        <p:blipFill>
          <a:blip r:embed="rId4"/>
          <a:stretch>
            <a:fillRect/>
          </a:stretch>
        </p:blipFill>
        <p:spPr>
          <a:xfrm>
            <a:off x="5217582" y="1857163"/>
            <a:ext cx="2320713" cy="232071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nvSpPr>
        <p:spPr>
          <a:xfrm>
            <a:off x="731520" y="274320"/>
            <a:ext cx="7680960" cy="640080"/>
          </a:xfrm>
          <a:prstGeom prst="rect">
            <a:avLst/>
          </a:prstGeom>
          <a:noFill/>
          <a:ln/>
        </p:spPr>
        <p:txBody>
          <a:bodyPr wrap="square" rtlCol="0" anchor="ctr"/>
          <a:lstStyle/>
          <a:p>
            <a:pPr marL="0" indent="0">
              <a:buNone/>
            </a:pPr>
            <a:r>
              <a:rPr lang="en-US" sz="2800" b="1" dirty="0">
                <a:solidFill>
                  <a:srgbClr val="2D3748"/>
                </a:solidFill>
              </a:rPr>
              <a:t>How You Use AI Matters</a:t>
            </a:r>
            <a:endParaRPr lang="en-US" sz="2800" dirty="0"/>
          </a:p>
        </p:txBody>
      </p:sp>
      <p:sp>
        <p:nvSpPr>
          <p:cNvPr id="4" name="Text 1"/>
          <p:cNvSpPr/>
          <p:nvPr/>
        </p:nvSpPr>
        <p:spPr>
          <a:xfrm>
            <a:off x="731520" y="777240"/>
            <a:ext cx="7680960" cy="274320"/>
          </a:xfrm>
          <a:prstGeom prst="rect">
            <a:avLst/>
          </a:prstGeom>
          <a:noFill/>
          <a:ln/>
        </p:spPr>
        <p:txBody>
          <a:bodyPr wrap="square" rtlCol="0" anchor="ctr"/>
          <a:lstStyle/>
          <a:p>
            <a:pPr marL="0" indent="0">
              <a:buNone/>
            </a:pPr>
            <a:r>
              <a:rPr lang="en-US" sz="1200" i="1" dirty="0">
                <a:solidFill>
                  <a:schemeClr val="tx1">
                    <a:lumMod val="65000"/>
                    <a:lumOff val="35000"/>
                  </a:schemeClr>
                </a:solidFill>
              </a:rPr>
              <a:t>Anthropic Research: "The Impact of AI Assistance on Coding Skill Development"</a:t>
            </a:r>
            <a:endParaRPr lang="en-US" sz="1200" dirty="0">
              <a:solidFill>
                <a:schemeClr val="tx1">
                  <a:lumMod val="65000"/>
                  <a:lumOff val="35000"/>
                </a:schemeClr>
              </a:solidFill>
            </a:endParaRPr>
          </a:p>
        </p:txBody>
      </p:sp>
      <p:sp>
        <p:nvSpPr>
          <p:cNvPr id="5" name="Shape 2"/>
          <p:cNvSpPr/>
          <p:nvPr/>
        </p:nvSpPr>
        <p:spPr>
          <a:xfrm>
            <a:off x="365760" y="1188720"/>
            <a:ext cx="4023360" cy="2560320"/>
          </a:xfrm>
          <a:prstGeom prst="rect">
            <a:avLst/>
          </a:prstGeom>
          <a:solidFill>
            <a:srgbClr val="FEF2F2"/>
          </a:solidFill>
          <a:ln/>
        </p:spPr>
        <p:txBody>
          <a:bodyPr/>
          <a:lstStyle/>
          <a:p>
            <a:endParaRPr lang="en-US"/>
          </a:p>
        </p:txBody>
      </p:sp>
      <p:sp>
        <p:nvSpPr>
          <p:cNvPr id="6" name="Text 3"/>
          <p:cNvSpPr/>
          <p:nvPr/>
        </p:nvSpPr>
        <p:spPr>
          <a:xfrm>
            <a:off x="548640" y="1280160"/>
            <a:ext cx="2743200" cy="274320"/>
          </a:xfrm>
          <a:prstGeom prst="rect">
            <a:avLst/>
          </a:prstGeom>
          <a:noFill/>
          <a:ln/>
        </p:spPr>
        <p:txBody>
          <a:bodyPr wrap="square" rtlCol="0" anchor="ctr"/>
          <a:lstStyle/>
          <a:p>
            <a:pPr marL="0" indent="0">
              <a:buNone/>
            </a:pPr>
            <a:r>
              <a:rPr lang="en-US" sz="1400" b="1" dirty="0">
                <a:solidFill>
                  <a:srgbClr val="D06070"/>
                </a:solidFill>
              </a:rPr>
              <a:t>DELEGATION</a:t>
            </a:r>
            <a:endParaRPr lang="en-US" sz="1400" dirty="0"/>
          </a:p>
        </p:txBody>
      </p:sp>
      <p:sp>
        <p:nvSpPr>
          <p:cNvPr id="7" name="Text 4"/>
          <p:cNvSpPr/>
          <p:nvPr/>
        </p:nvSpPr>
        <p:spPr>
          <a:xfrm>
            <a:off x="548640" y="1645920"/>
            <a:ext cx="3657600" cy="2011680"/>
          </a:xfrm>
          <a:prstGeom prst="rect">
            <a:avLst/>
          </a:prstGeom>
          <a:noFill/>
          <a:ln/>
        </p:spPr>
        <p:txBody>
          <a:bodyPr wrap="square" rtlCol="0" anchor="t"/>
          <a:lstStyle/>
          <a:p>
            <a:pPr marL="0" indent="0">
              <a:buNone/>
            </a:pPr>
            <a:r>
              <a:rPr lang="en-US" sz="1400" i="1" dirty="0">
                <a:solidFill>
                  <a:srgbClr val="4A5568"/>
                </a:solidFill>
              </a:rPr>
              <a:t>"Just generate the code"
</a:t>
            </a:r>
            <a:r>
              <a:rPr lang="en-US" sz="1300" dirty="0">
                <a:solidFill>
                  <a:srgbClr val="2D3748"/>
                </a:solidFill>
              </a:rPr>
              <a:t>Scored </a:t>
            </a:r>
            <a:r>
              <a:rPr lang="en-US" sz="1500" b="1" dirty="0">
                <a:solidFill>
                  <a:srgbClr val="D06070"/>
                </a:solidFill>
              </a:rPr>
              <a:t>lowest</a:t>
            </a:r>
            <a:r>
              <a:rPr lang="en-US" sz="1300" dirty="0">
                <a:solidFill>
                  <a:srgbClr val="2D3748"/>
                </a:solidFill>
              </a:rPr>
              <a:t> on skill assessments
after completing a coding task —
even though their code worked fine.
</a:t>
            </a:r>
            <a:r>
              <a:rPr lang="en-US" sz="1200" i="1" dirty="0">
                <a:solidFill>
                  <a:srgbClr val="718096"/>
                </a:solidFill>
              </a:rPr>
              <a:t>The code passes. The learning didn't.</a:t>
            </a:r>
            <a:endParaRPr lang="en-US" sz="1400" dirty="0"/>
          </a:p>
        </p:txBody>
      </p:sp>
      <p:sp>
        <p:nvSpPr>
          <p:cNvPr id="8" name="Shape 5"/>
          <p:cNvSpPr/>
          <p:nvPr/>
        </p:nvSpPr>
        <p:spPr>
          <a:xfrm>
            <a:off x="4754880" y="1188720"/>
            <a:ext cx="4023360" cy="2560320"/>
          </a:xfrm>
          <a:prstGeom prst="rect">
            <a:avLst/>
          </a:prstGeom>
          <a:solidFill>
            <a:srgbClr val="E6F4EA"/>
          </a:solidFill>
          <a:ln/>
        </p:spPr>
        <p:txBody>
          <a:bodyPr/>
          <a:lstStyle/>
          <a:p>
            <a:endParaRPr lang="en-US"/>
          </a:p>
        </p:txBody>
      </p:sp>
      <p:sp>
        <p:nvSpPr>
          <p:cNvPr id="9" name="Text 6"/>
          <p:cNvSpPr/>
          <p:nvPr/>
        </p:nvSpPr>
        <p:spPr>
          <a:xfrm>
            <a:off x="4937760" y="1280160"/>
            <a:ext cx="3200400" cy="274320"/>
          </a:xfrm>
          <a:prstGeom prst="rect">
            <a:avLst/>
          </a:prstGeom>
          <a:noFill/>
          <a:ln/>
        </p:spPr>
        <p:txBody>
          <a:bodyPr wrap="square" rtlCol="0" anchor="ctr"/>
          <a:lstStyle/>
          <a:p>
            <a:pPr marL="0" indent="0">
              <a:buNone/>
            </a:pPr>
            <a:r>
              <a:rPr lang="en-US" sz="1400" b="1" dirty="0">
                <a:solidFill>
                  <a:srgbClr val="2D8A4E"/>
                </a:solidFill>
              </a:rPr>
              <a:t>CONTINUOUS CURIOSITY</a:t>
            </a:r>
            <a:endParaRPr lang="en-US" sz="1400" dirty="0"/>
          </a:p>
        </p:txBody>
      </p:sp>
      <p:sp>
        <p:nvSpPr>
          <p:cNvPr id="10" name="Text 7"/>
          <p:cNvSpPr/>
          <p:nvPr/>
        </p:nvSpPr>
        <p:spPr>
          <a:xfrm>
            <a:off x="4937760" y="1645920"/>
            <a:ext cx="3657600" cy="2011680"/>
          </a:xfrm>
          <a:prstGeom prst="rect">
            <a:avLst/>
          </a:prstGeom>
          <a:noFill/>
          <a:ln/>
        </p:spPr>
        <p:txBody>
          <a:bodyPr wrap="square" rtlCol="0" anchor="t"/>
          <a:lstStyle/>
          <a:p>
            <a:pPr marL="0" indent="0">
              <a:buNone/>
            </a:pPr>
            <a:r>
              <a:rPr lang="en-US" sz="1400" i="1" dirty="0">
                <a:solidFill>
                  <a:srgbClr val="4A5568"/>
                </a:solidFill>
              </a:rPr>
              <a:t>Ask AI to explain. Question its choices.
Understand before moving on.
</a:t>
            </a:r>
            <a:r>
              <a:rPr lang="en-US" sz="1300" dirty="0">
                <a:solidFill>
                  <a:srgbClr val="2D3748"/>
                </a:solidFill>
              </a:rPr>
              <a:t>Developed </a:t>
            </a:r>
            <a:r>
              <a:rPr lang="en-US" sz="1500" b="1" dirty="0">
                <a:solidFill>
                  <a:srgbClr val="2D8A4E"/>
                </a:solidFill>
              </a:rPr>
              <a:t>significantly stronger skills</a:t>
            </a:r>
            <a:r>
              <a:rPr lang="en-US" sz="1300" dirty="0">
                <a:solidFill>
                  <a:srgbClr val="2D3748"/>
                </a:solidFill>
              </a:rPr>
              <a:t>
in the same amount of time.
</a:t>
            </a:r>
            <a:r>
              <a:rPr lang="en-US" sz="1200" i="1" dirty="0">
                <a:solidFill>
                  <a:srgbClr val="718096"/>
                </a:solidFill>
              </a:rPr>
              <a:t>Same tool. Different outcome.</a:t>
            </a:r>
            <a:endParaRPr lang="en-US" sz="1400" dirty="0"/>
          </a:p>
        </p:txBody>
      </p:sp>
      <p:sp>
        <p:nvSpPr>
          <p:cNvPr id="11" name="Shape 8"/>
          <p:cNvSpPr/>
          <p:nvPr/>
        </p:nvSpPr>
        <p:spPr>
          <a:xfrm>
            <a:off x="365760" y="4023360"/>
            <a:ext cx="8412480" cy="822960"/>
          </a:xfrm>
          <a:prstGeom prst="rect">
            <a:avLst/>
          </a:prstGeom>
          <a:solidFill>
            <a:srgbClr val="F0F4F8"/>
          </a:solidFill>
          <a:ln/>
        </p:spPr>
        <p:txBody>
          <a:bodyPr/>
          <a:lstStyle/>
          <a:p>
            <a:endParaRPr lang="en-US"/>
          </a:p>
        </p:txBody>
      </p:sp>
      <p:sp>
        <p:nvSpPr>
          <p:cNvPr id="12" name="Text 9"/>
          <p:cNvSpPr/>
          <p:nvPr/>
        </p:nvSpPr>
        <p:spPr>
          <a:xfrm>
            <a:off x="731520" y="4069080"/>
            <a:ext cx="7680960" cy="731520"/>
          </a:xfrm>
          <a:prstGeom prst="rect">
            <a:avLst/>
          </a:prstGeom>
          <a:noFill/>
          <a:ln/>
        </p:spPr>
        <p:txBody>
          <a:bodyPr wrap="square" rtlCol="0" anchor="ctr"/>
          <a:lstStyle/>
          <a:p>
            <a:pPr marL="0" indent="0" algn="ctr">
              <a:buNone/>
            </a:pPr>
            <a:r>
              <a:rPr lang="en-US" sz="1400" dirty="0">
                <a:solidFill>
                  <a:srgbClr val="2D3748"/>
                </a:solidFill>
              </a:rPr>
              <a:t>You can use AI and </a:t>
            </a:r>
            <a:r>
              <a:rPr lang="en-US" sz="1400" b="1" dirty="0">
                <a:solidFill>
                  <a:srgbClr val="D06070"/>
                </a:solidFill>
              </a:rPr>
              <a:t>not learn anything</a:t>
            </a:r>
            <a:r>
              <a:rPr lang="en-US" sz="1400" dirty="0">
                <a:solidFill>
                  <a:srgbClr val="2D3748"/>
                </a:solidFill>
              </a:rPr>
              <a:t>, or you can use it and </a:t>
            </a:r>
            <a:r>
              <a:rPr lang="en-US" sz="1400" b="1" dirty="0">
                <a:solidFill>
                  <a:srgbClr val="2D8A4E"/>
                </a:solidFill>
              </a:rPr>
              <a:t>learn more than you would have doing it manually.</a:t>
            </a:r>
            <a:endParaRPr lang="en-US" sz="1400" dirty="0"/>
          </a:p>
        </p:txBody>
      </p:sp>
      <p:pic>
        <p:nvPicPr>
          <p:cNvPr id="13" name="Image 0" descr="/Users/tim/Sandbox/classmoji/analysis/assets/classmoji-character-white.png"/>
          <p:cNvPicPr>
            <a:picLocks noChangeAspect="1"/>
          </p:cNvPicPr>
          <p:nvPr/>
        </p:nvPicPr>
        <p:blipFill>
          <a:blip r:embed="rId3"/>
          <a:srcRect/>
          <a:stretch/>
        </p:blipFill>
        <p:spPr>
          <a:xfrm>
            <a:off x="7772400" y="45720"/>
            <a:ext cx="1097280" cy="10972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nvSpPr>
        <p:spPr>
          <a:xfrm>
            <a:off x="731520" y="274320"/>
            <a:ext cx="7680960" cy="640080"/>
          </a:xfrm>
          <a:prstGeom prst="rect">
            <a:avLst/>
          </a:prstGeom>
          <a:noFill/>
          <a:ln/>
        </p:spPr>
        <p:txBody>
          <a:bodyPr wrap="square" rtlCol="0" anchor="ctr"/>
          <a:lstStyle/>
          <a:p>
            <a:pPr marL="0" indent="0">
              <a:buNone/>
            </a:pPr>
            <a:r>
              <a:rPr lang="en-US" sz="2800" b="1" dirty="0">
                <a:solidFill>
                  <a:srgbClr val="2D3748"/>
                </a:solidFill>
              </a:rPr>
              <a:t>Oral Exams Work... But Don't Scale</a:t>
            </a:r>
            <a:endParaRPr lang="en-US" sz="2800" dirty="0"/>
          </a:p>
        </p:txBody>
      </p:sp>
      <p:sp>
        <p:nvSpPr>
          <p:cNvPr id="4" name="Shape 1"/>
          <p:cNvSpPr/>
          <p:nvPr/>
        </p:nvSpPr>
        <p:spPr>
          <a:xfrm>
            <a:off x="365760" y="1097280"/>
            <a:ext cx="8412480" cy="1463040"/>
          </a:xfrm>
          <a:prstGeom prst="rect">
            <a:avLst/>
          </a:prstGeom>
          <a:solidFill>
            <a:srgbClr val="E6F4EA"/>
          </a:solidFill>
          <a:ln/>
        </p:spPr>
        <p:txBody>
          <a:bodyPr/>
          <a:lstStyle/>
          <a:p>
            <a:endParaRPr lang="en-US"/>
          </a:p>
        </p:txBody>
      </p:sp>
      <p:sp>
        <p:nvSpPr>
          <p:cNvPr id="5" name="Text 2"/>
          <p:cNvSpPr/>
          <p:nvPr/>
        </p:nvSpPr>
        <p:spPr>
          <a:xfrm>
            <a:off x="731520" y="1188720"/>
            <a:ext cx="7680960" cy="1280160"/>
          </a:xfrm>
          <a:prstGeom prst="rect">
            <a:avLst/>
          </a:prstGeom>
          <a:noFill/>
          <a:ln/>
        </p:spPr>
        <p:txBody>
          <a:bodyPr wrap="square" rtlCol="0" anchor="t"/>
          <a:lstStyle/>
          <a:p>
            <a:pPr marL="0" indent="0">
              <a:buNone/>
            </a:pPr>
            <a:r>
              <a:rPr lang="en-US" sz="1500" dirty="0">
                <a:solidFill>
                  <a:srgbClr val="2D3748"/>
                </a:solidFill>
              </a:rPr>
              <a:t>A 10-minute conversation reveals more than a long written exam. </a:t>
            </a:r>
            <a:br>
              <a:rPr lang="en-US" sz="1500" dirty="0">
                <a:solidFill>
                  <a:srgbClr val="2D3748"/>
                </a:solidFill>
              </a:rPr>
            </a:br>
            <a:r>
              <a:rPr lang="en-US" sz="1500" dirty="0">
                <a:solidFill>
                  <a:srgbClr val="2D3748"/>
                </a:solidFill>
              </a:rPr>
              <a:t>You can probe reasoning, follow up on confusion, hear the thinking, BUT</a:t>
            </a:r>
            <a:endParaRPr lang="en-US" sz="1500" dirty="0"/>
          </a:p>
        </p:txBody>
      </p:sp>
      <p:sp>
        <p:nvSpPr>
          <p:cNvPr id="6" name="Shape 3"/>
          <p:cNvSpPr/>
          <p:nvPr/>
        </p:nvSpPr>
        <p:spPr>
          <a:xfrm>
            <a:off x="365760" y="2834640"/>
            <a:ext cx="8412480" cy="2011680"/>
          </a:xfrm>
          <a:prstGeom prst="rect">
            <a:avLst/>
          </a:prstGeom>
          <a:solidFill>
            <a:srgbClr val="FEF2F2"/>
          </a:solidFill>
          <a:ln/>
        </p:spPr>
        <p:txBody>
          <a:bodyPr/>
          <a:lstStyle/>
          <a:p>
            <a:endParaRPr lang="en-US"/>
          </a:p>
        </p:txBody>
      </p:sp>
      <p:sp>
        <p:nvSpPr>
          <p:cNvPr id="7" name="Text 4"/>
          <p:cNvSpPr/>
          <p:nvPr/>
        </p:nvSpPr>
        <p:spPr>
          <a:xfrm>
            <a:off x="731520" y="2926080"/>
            <a:ext cx="7680960" cy="1828800"/>
          </a:xfrm>
          <a:prstGeom prst="rect">
            <a:avLst/>
          </a:prstGeom>
          <a:noFill/>
          <a:ln/>
        </p:spPr>
        <p:txBody>
          <a:bodyPr wrap="square" rtlCol="0" anchor="t"/>
          <a:lstStyle/>
          <a:p>
            <a:pPr marL="0" indent="0">
              <a:buNone/>
            </a:pPr>
            <a:r>
              <a:rPr lang="en-US" sz="1600" dirty="0">
                <a:solidFill>
                  <a:srgbClr val="2D3748"/>
                </a:solidFill>
              </a:rPr>
              <a:t>I can't </a:t>
            </a:r>
            <a:r>
              <a:rPr lang="en-US" sz="1800" b="1" i="1" dirty="0">
                <a:solidFill>
                  <a:srgbClr val="D06070"/>
                </a:solidFill>
              </a:rPr>
              <a:t>"whatever” love</a:t>
            </a:r>
            <a:r>
              <a:rPr lang="en-US" sz="1600" dirty="0">
                <a:solidFill>
                  <a:srgbClr val="2D3748"/>
                </a:solidFill>
              </a:rPr>
              <a:t> each student like that.</a:t>
            </a:r>
            <a:br>
              <a:rPr lang="en-US" sz="1600" dirty="0">
                <a:solidFill>
                  <a:srgbClr val="2D3748"/>
                </a:solidFill>
              </a:rPr>
            </a:br>
            <a:r>
              <a:rPr lang="en-US" sz="1600" dirty="0">
                <a:solidFill>
                  <a:srgbClr val="2D3748"/>
                </a:solidFill>
              </a:rPr>
              <a:t>There are too many of them. 
</a:t>
            </a:r>
            <a:r>
              <a:rPr lang="en-US" sz="1300" dirty="0">
                <a:solidFill>
                  <a:srgbClr val="718096"/>
                </a:solidFill>
              </a:rPr>
              <a:t>Too many students to treat each person fairly</a:t>
            </a:r>
            <a:endParaRPr lang="en-US" sz="1600" dirty="0"/>
          </a:p>
          <a:p>
            <a:pPr marL="0" indent="0">
              <a:buNone/>
            </a:pPr>
            <a:r>
              <a:rPr lang="en-US" sz="1300" dirty="0">
                <a:solidFill>
                  <a:srgbClr val="718096"/>
                </a:solidFill>
              </a:rPr>
              <a:t>without an army of cloned </a:t>
            </a:r>
            <a:r>
              <a:rPr lang="en-US" sz="1300" dirty="0" err="1">
                <a:solidFill>
                  <a:srgbClr val="718096"/>
                </a:solidFill>
              </a:rPr>
              <a:t>me’s</a:t>
            </a:r>
            <a:r>
              <a:rPr lang="en-US" sz="1300" dirty="0">
                <a:solidFill>
                  <a:srgbClr val="718096"/>
                </a:solidFill>
              </a:rPr>
              <a:t>… well actually…</a:t>
            </a:r>
            <a:endParaRPr lang="en-US" sz="1600" dirty="0"/>
          </a:p>
        </p:txBody>
      </p:sp>
      <p:pic>
        <p:nvPicPr>
          <p:cNvPr id="8" name="Image 0" descr="/Users/tim/Sandbox/classmoji/analysis/assets/gifs/love-spread.gif"/>
          <p:cNvPicPr>
            <a:picLocks noChangeAspect="1"/>
          </p:cNvPicPr>
          <p:nvPr/>
        </p:nvPicPr>
        <p:blipFill>
          <a:blip r:embed="rId3"/>
          <a:srcRect/>
          <a:stretch/>
        </p:blipFill>
        <p:spPr>
          <a:xfrm>
            <a:off x="5546035" y="2085534"/>
            <a:ext cx="3017520" cy="185693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731520" y="274320"/>
            <a:ext cx="7680960" cy="640080"/>
          </a:xfrm>
          <a:prstGeom prst="rect">
            <a:avLst/>
          </a:prstGeom>
          <a:noFill/>
          <a:ln/>
        </p:spPr>
        <p:txBody>
          <a:bodyPr wrap="square" rtlCol="0" anchor="ctr"/>
          <a:lstStyle/>
          <a:p>
            <a:pPr marL="0" indent="0">
              <a:buNone/>
            </a:pPr>
            <a:r>
              <a:rPr lang="en-US" sz="2800" b="1" dirty="0">
                <a:solidFill>
                  <a:srgbClr val="2D3748"/>
                </a:solidFill>
              </a:rPr>
              <a:t>Let AI Share the Love</a:t>
            </a:r>
            <a:endParaRPr lang="en-US" sz="2800" dirty="0"/>
          </a:p>
        </p:txBody>
      </p:sp>
      <p:sp>
        <p:nvSpPr>
          <p:cNvPr id="4" name="Shape 1"/>
          <p:cNvSpPr/>
          <p:nvPr/>
        </p:nvSpPr>
        <p:spPr>
          <a:xfrm>
            <a:off x="365760" y="1097280"/>
            <a:ext cx="8412480" cy="1828800"/>
          </a:xfrm>
          <a:prstGeom prst="rect">
            <a:avLst/>
          </a:prstGeom>
          <a:solidFill>
            <a:srgbClr val="E6F4EA"/>
          </a:solidFill>
          <a:ln/>
        </p:spPr>
        <p:txBody>
          <a:bodyPr/>
          <a:lstStyle/>
          <a:p>
            <a:endParaRPr lang="en-US"/>
          </a:p>
        </p:txBody>
      </p:sp>
      <p:sp>
        <p:nvSpPr>
          <p:cNvPr id="5" name="Text 2"/>
          <p:cNvSpPr/>
          <p:nvPr/>
        </p:nvSpPr>
        <p:spPr>
          <a:xfrm>
            <a:off x="731520" y="1188720"/>
            <a:ext cx="7680960" cy="1645920"/>
          </a:xfrm>
          <a:prstGeom prst="rect">
            <a:avLst/>
          </a:prstGeom>
          <a:noFill/>
          <a:ln/>
        </p:spPr>
        <p:txBody>
          <a:bodyPr wrap="square" rtlCol="0" anchor="t"/>
          <a:lstStyle/>
          <a:p>
            <a:pPr marL="0" indent="0">
              <a:buNone/>
            </a:pPr>
            <a:r>
              <a:rPr lang="en-US" sz="1500" dirty="0">
                <a:solidFill>
                  <a:srgbClr val="2D3748"/>
                </a:solidFill>
              </a:rPr>
              <a:t>With the right prompting and tooling, AI agents are
</a:t>
            </a:r>
            <a:r>
              <a:rPr lang="en-US" sz="1600" b="1" dirty="0">
                <a:solidFill>
                  <a:srgbClr val="2D8A4E"/>
                </a:solidFill>
              </a:rPr>
              <a:t>remarkably good</a:t>
            </a:r>
            <a:r>
              <a:rPr lang="en-US" sz="1500" dirty="0">
                <a:solidFill>
                  <a:srgbClr val="2D3748"/>
                </a:solidFill>
              </a:rPr>
              <a:t> at interrogating students about their code.
</a:t>
            </a:r>
            <a:r>
              <a:rPr lang="en-US" sz="1200" dirty="0">
                <a:solidFill>
                  <a:srgbClr val="4A5568"/>
                </a:solidFill>
              </a:rPr>
              <a:t>They read the repo. They ask pointed questions.</a:t>
            </a:r>
            <a:endParaRPr lang="en-US" sz="1500" dirty="0"/>
          </a:p>
          <a:p>
            <a:pPr marL="0" indent="0">
              <a:buNone/>
            </a:pPr>
            <a:r>
              <a:rPr lang="en-US" sz="1200" dirty="0">
                <a:solidFill>
                  <a:srgbClr val="4A5568"/>
                </a:solidFill>
              </a:rPr>
              <a:t>They follow up when answers are vague. They give hints when students are stuck.</a:t>
            </a:r>
            <a:br>
              <a:rPr lang="en-US" sz="1200" dirty="0">
                <a:solidFill>
                  <a:srgbClr val="4A5568"/>
                </a:solidFill>
              </a:rPr>
            </a:br>
            <a:br>
              <a:rPr lang="en-US" sz="1200" dirty="0">
                <a:solidFill>
                  <a:srgbClr val="4A5568"/>
                </a:solidFill>
              </a:rPr>
            </a:br>
            <a:r>
              <a:rPr lang="en-US" sz="1200" dirty="0">
                <a:solidFill>
                  <a:srgbClr val="4A5568"/>
                </a:solidFill>
              </a:rPr>
              <a:t>Formative and supportive assessment? </a:t>
            </a:r>
            <a:endParaRPr lang="en-US" sz="1500" dirty="0"/>
          </a:p>
        </p:txBody>
      </p:sp>
      <p:sp>
        <p:nvSpPr>
          <p:cNvPr id="6" name="Shape 3"/>
          <p:cNvSpPr/>
          <p:nvPr/>
        </p:nvSpPr>
        <p:spPr>
          <a:xfrm>
            <a:off x="457200" y="3200400"/>
            <a:ext cx="1920240" cy="1554480"/>
          </a:xfrm>
          <a:prstGeom prst="rect">
            <a:avLst/>
          </a:prstGeom>
          <a:solidFill>
            <a:srgbClr val="F0F4F8"/>
          </a:solidFill>
          <a:ln/>
        </p:spPr>
        <p:txBody>
          <a:bodyPr/>
          <a:lstStyle/>
          <a:p>
            <a:endParaRPr lang="en-US"/>
          </a:p>
        </p:txBody>
      </p:sp>
      <p:sp>
        <p:nvSpPr>
          <p:cNvPr id="7" name="Text 4"/>
          <p:cNvSpPr/>
          <p:nvPr/>
        </p:nvSpPr>
        <p:spPr>
          <a:xfrm>
            <a:off x="457200" y="3246120"/>
            <a:ext cx="1920240" cy="54864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8" name="Text 5"/>
          <p:cNvSpPr/>
          <p:nvPr/>
        </p:nvSpPr>
        <p:spPr>
          <a:xfrm>
            <a:off x="548640" y="3840480"/>
            <a:ext cx="1737360" cy="640080"/>
          </a:xfrm>
          <a:prstGeom prst="rect">
            <a:avLst/>
          </a:prstGeom>
          <a:noFill/>
          <a:ln/>
        </p:spPr>
        <p:txBody>
          <a:bodyPr wrap="square" rtlCol="0" anchor="t"/>
          <a:lstStyle/>
          <a:p>
            <a:pPr marL="0" indent="0" algn="ctr">
              <a:buNone/>
            </a:pPr>
            <a:r>
              <a:rPr lang="en-US" sz="1100" dirty="0">
                <a:solidFill>
                  <a:srgbClr val="4A5568"/>
                </a:solidFill>
              </a:rPr>
              <a:t>Reads the student's</a:t>
            </a:r>
            <a:endParaRPr lang="en-US" sz="1100" dirty="0"/>
          </a:p>
          <a:p>
            <a:pPr marL="0" indent="0" algn="ctr">
              <a:buNone/>
            </a:pPr>
            <a:r>
              <a:rPr lang="en-US" sz="1100" dirty="0">
                <a:solidFill>
                  <a:srgbClr val="4A5568"/>
                </a:solidFill>
              </a:rPr>
              <a:t>actual code</a:t>
            </a:r>
            <a:endParaRPr lang="en-US" sz="1100" dirty="0"/>
          </a:p>
        </p:txBody>
      </p:sp>
      <p:sp>
        <p:nvSpPr>
          <p:cNvPr id="9" name="Shape 6"/>
          <p:cNvSpPr/>
          <p:nvPr/>
        </p:nvSpPr>
        <p:spPr>
          <a:xfrm>
            <a:off x="2606040" y="3200400"/>
            <a:ext cx="1920240" cy="1554480"/>
          </a:xfrm>
          <a:prstGeom prst="rect">
            <a:avLst/>
          </a:prstGeom>
          <a:solidFill>
            <a:srgbClr val="F0F4F8"/>
          </a:solidFill>
          <a:ln/>
        </p:spPr>
        <p:txBody>
          <a:bodyPr/>
          <a:lstStyle/>
          <a:p>
            <a:endParaRPr lang="en-US"/>
          </a:p>
        </p:txBody>
      </p:sp>
      <p:sp>
        <p:nvSpPr>
          <p:cNvPr id="10" name="Text 7"/>
          <p:cNvSpPr/>
          <p:nvPr/>
        </p:nvSpPr>
        <p:spPr>
          <a:xfrm>
            <a:off x="2606040" y="3246120"/>
            <a:ext cx="1920240" cy="54864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11" name="Text 8"/>
          <p:cNvSpPr/>
          <p:nvPr/>
        </p:nvSpPr>
        <p:spPr>
          <a:xfrm>
            <a:off x="2697480" y="3840480"/>
            <a:ext cx="1737360" cy="640080"/>
          </a:xfrm>
          <a:prstGeom prst="rect">
            <a:avLst/>
          </a:prstGeom>
          <a:noFill/>
          <a:ln/>
        </p:spPr>
        <p:txBody>
          <a:bodyPr wrap="square" rtlCol="0" anchor="t"/>
          <a:lstStyle/>
          <a:p>
            <a:pPr marL="0" indent="0" algn="ctr">
              <a:buNone/>
            </a:pPr>
            <a:r>
              <a:rPr lang="en-US" sz="1100" dirty="0">
                <a:solidFill>
                  <a:srgbClr val="4A5568"/>
                </a:solidFill>
              </a:rPr>
              <a:t>Asks personalized</a:t>
            </a:r>
            <a:endParaRPr lang="en-US" sz="1100" dirty="0"/>
          </a:p>
          <a:p>
            <a:pPr marL="0" indent="0" algn="ctr">
              <a:buNone/>
            </a:pPr>
            <a:r>
              <a:rPr lang="en-US" sz="1100" dirty="0">
                <a:solidFill>
                  <a:srgbClr val="4A5568"/>
                </a:solidFill>
              </a:rPr>
              <a:t>questions</a:t>
            </a:r>
            <a:endParaRPr lang="en-US" sz="1100" dirty="0"/>
          </a:p>
        </p:txBody>
      </p:sp>
      <p:sp>
        <p:nvSpPr>
          <p:cNvPr id="12" name="Shape 9"/>
          <p:cNvSpPr/>
          <p:nvPr/>
        </p:nvSpPr>
        <p:spPr>
          <a:xfrm>
            <a:off x="4754880" y="3200400"/>
            <a:ext cx="1920240" cy="1554480"/>
          </a:xfrm>
          <a:prstGeom prst="rect">
            <a:avLst/>
          </a:prstGeom>
          <a:solidFill>
            <a:srgbClr val="F0F4F8"/>
          </a:solidFill>
          <a:ln/>
        </p:spPr>
        <p:txBody>
          <a:bodyPr/>
          <a:lstStyle/>
          <a:p>
            <a:endParaRPr lang="en-US"/>
          </a:p>
        </p:txBody>
      </p:sp>
      <p:sp>
        <p:nvSpPr>
          <p:cNvPr id="13" name="Text 10"/>
          <p:cNvSpPr/>
          <p:nvPr/>
        </p:nvSpPr>
        <p:spPr>
          <a:xfrm>
            <a:off x="4754880" y="3246120"/>
            <a:ext cx="1920240" cy="54864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14" name="Text 11"/>
          <p:cNvSpPr/>
          <p:nvPr/>
        </p:nvSpPr>
        <p:spPr>
          <a:xfrm>
            <a:off x="4846320" y="3840480"/>
            <a:ext cx="1737360" cy="640080"/>
          </a:xfrm>
          <a:prstGeom prst="rect">
            <a:avLst/>
          </a:prstGeom>
          <a:noFill/>
          <a:ln/>
        </p:spPr>
        <p:txBody>
          <a:bodyPr wrap="square" rtlCol="0" anchor="t"/>
          <a:lstStyle/>
          <a:p>
            <a:pPr marL="0" indent="0" algn="ctr">
              <a:buNone/>
            </a:pPr>
            <a:r>
              <a:rPr lang="en-US" sz="1100" dirty="0">
                <a:solidFill>
                  <a:srgbClr val="4A5568"/>
                </a:solidFill>
              </a:rPr>
              <a:t>Gives progressive</a:t>
            </a:r>
            <a:endParaRPr lang="en-US" sz="1100" dirty="0"/>
          </a:p>
          <a:p>
            <a:pPr marL="0" indent="0" algn="ctr">
              <a:buNone/>
            </a:pPr>
            <a:r>
              <a:rPr lang="en-US" sz="1100" dirty="0">
                <a:solidFill>
                  <a:srgbClr val="4A5568"/>
                </a:solidFill>
              </a:rPr>
              <a:t>hints</a:t>
            </a:r>
            <a:endParaRPr lang="en-US" sz="1100" dirty="0"/>
          </a:p>
        </p:txBody>
      </p:sp>
      <p:sp>
        <p:nvSpPr>
          <p:cNvPr id="15" name="Shape 12"/>
          <p:cNvSpPr/>
          <p:nvPr/>
        </p:nvSpPr>
        <p:spPr>
          <a:xfrm>
            <a:off x="6903720" y="3200400"/>
            <a:ext cx="1920240" cy="1554480"/>
          </a:xfrm>
          <a:prstGeom prst="rect">
            <a:avLst/>
          </a:prstGeom>
          <a:solidFill>
            <a:srgbClr val="F0F4F8"/>
          </a:solidFill>
          <a:ln/>
        </p:spPr>
        <p:txBody>
          <a:bodyPr/>
          <a:lstStyle/>
          <a:p>
            <a:endParaRPr lang="en-US"/>
          </a:p>
        </p:txBody>
      </p:sp>
      <p:sp>
        <p:nvSpPr>
          <p:cNvPr id="16" name="Text 13"/>
          <p:cNvSpPr/>
          <p:nvPr/>
        </p:nvSpPr>
        <p:spPr>
          <a:xfrm>
            <a:off x="6903720" y="3246120"/>
            <a:ext cx="1920240" cy="54864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17" name="Text 14"/>
          <p:cNvSpPr/>
          <p:nvPr/>
        </p:nvSpPr>
        <p:spPr>
          <a:xfrm>
            <a:off x="6995160" y="3840480"/>
            <a:ext cx="1737360" cy="640080"/>
          </a:xfrm>
          <a:prstGeom prst="rect">
            <a:avLst/>
          </a:prstGeom>
          <a:noFill/>
          <a:ln/>
        </p:spPr>
        <p:txBody>
          <a:bodyPr wrap="square" rtlCol="0" anchor="t"/>
          <a:lstStyle/>
          <a:p>
            <a:pPr marL="0" indent="0" algn="ctr">
              <a:buNone/>
            </a:pPr>
            <a:r>
              <a:rPr lang="en-US" sz="1100" dirty="0">
                <a:solidFill>
                  <a:srgbClr val="4A5568"/>
                </a:solidFill>
              </a:rPr>
              <a:t>Evaluates</a:t>
            </a:r>
            <a:endParaRPr lang="en-US" sz="1100" dirty="0"/>
          </a:p>
          <a:p>
            <a:pPr marL="0" indent="0" algn="ctr">
              <a:buNone/>
            </a:pPr>
            <a:r>
              <a:rPr lang="en-US" sz="1100" dirty="0">
                <a:solidFill>
                  <a:srgbClr val="4A5568"/>
                </a:solidFill>
              </a:rPr>
              <a:t>understanding</a:t>
            </a:r>
            <a:endParaRPr lang="en-US" sz="1100" dirty="0"/>
          </a:p>
        </p:txBody>
      </p:sp>
      <p:pic>
        <p:nvPicPr>
          <p:cNvPr id="18" name="Image 0" descr="/Users/tim/Sandbox/classmoji/analysis/assets/gifs/heart-hand-drawn.gif"/>
          <p:cNvPicPr>
            <a:picLocks noChangeAspect="1"/>
          </p:cNvPicPr>
          <p:nvPr/>
        </p:nvPicPr>
        <p:blipFill>
          <a:blip r:embed="rId3"/>
          <a:srcRect/>
          <a:stretch/>
        </p:blipFill>
        <p:spPr>
          <a:xfrm>
            <a:off x="6858000" y="274320"/>
            <a:ext cx="2103120" cy="16459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nvSpPr>
        <p:spPr>
          <a:xfrm>
            <a:off x="731520" y="274320"/>
            <a:ext cx="7680960" cy="548640"/>
          </a:xfrm>
          <a:prstGeom prst="rect">
            <a:avLst/>
          </a:prstGeom>
          <a:noFill/>
          <a:ln/>
        </p:spPr>
        <p:txBody>
          <a:bodyPr wrap="square" rtlCol="0" anchor="ctr"/>
          <a:lstStyle/>
          <a:p>
            <a:pPr marL="0" indent="0">
              <a:buNone/>
            </a:pPr>
            <a:r>
              <a:rPr lang="en-US" sz="2800" b="1" dirty="0">
                <a:solidFill>
                  <a:srgbClr val="2D3748"/>
                </a:solidFill>
              </a:rPr>
              <a:t>How It Works</a:t>
            </a:r>
            <a:endParaRPr lang="en-US" sz="2800" dirty="0"/>
          </a:p>
        </p:txBody>
      </p:sp>
      <p:sp>
        <p:nvSpPr>
          <p:cNvPr id="4" name="Text 1"/>
          <p:cNvSpPr/>
          <p:nvPr/>
        </p:nvSpPr>
        <p:spPr>
          <a:xfrm>
            <a:off x="731520" y="777240"/>
            <a:ext cx="7680960" cy="320040"/>
          </a:xfrm>
          <a:prstGeom prst="rect">
            <a:avLst/>
          </a:prstGeom>
          <a:noFill/>
          <a:ln/>
        </p:spPr>
        <p:txBody>
          <a:bodyPr wrap="square" rtlCol="0" anchor="ctr"/>
          <a:lstStyle/>
          <a:p>
            <a:pPr marL="0" indent="0" algn="l">
              <a:buNone/>
            </a:pPr>
            <a:r>
              <a:rPr lang="en-US" sz="1200" i="1" dirty="0">
                <a:solidFill>
                  <a:srgbClr val="718096"/>
                </a:solidFill>
              </a:rPr>
              <a:t>Depth of Knowledge + Socratic Questioning → Adaptive Dialogue</a:t>
            </a:r>
            <a:endParaRPr lang="en-US" sz="1200" dirty="0"/>
          </a:p>
        </p:txBody>
      </p:sp>
      <p:sp>
        <p:nvSpPr>
          <p:cNvPr id="5" name="Shape 2"/>
          <p:cNvSpPr/>
          <p:nvPr/>
        </p:nvSpPr>
        <p:spPr>
          <a:xfrm>
            <a:off x="274320" y="1280160"/>
            <a:ext cx="2651760" cy="2468880"/>
          </a:xfrm>
          <a:prstGeom prst="rect">
            <a:avLst/>
          </a:prstGeom>
          <a:solidFill>
            <a:srgbClr val="F0F4F8"/>
          </a:solidFill>
          <a:ln/>
        </p:spPr>
        <p:txBody>
          <a:bodyPr/>
          <a:lstStyle/>
          <a:p>
            <a:endParaRPr lang="en-US"/>
          </a:p>
        </p:txBody>
      </p:sp>
      <p:sp>
        <p:nvSpPr>
          <p:cNvPr id="6" name="Shape 3"/>
          <p:cNvSpPr/>
          <p:nvPr/>
        </p:nvSpPr>
        <p:spPr>
          <a:xfrm>
            <a:off x="411480" y="1417320"/>
            <a:ext cx="411480" cy="411480"/>
          </a:xfrm>
          <a:prstGeom prst="ellipse">
            <a:avLst/>
          </a:prstGeom>
          <a:solidFill>
            <a:srgbClr val="4A80C4"/>
          </a:solidFill>
          <a:ln/>
        </p:spPr>
        <p:txBody>
          <a:bodyPr/>
          <a:lstStyle/>
          <a:p>
            <a:endParaRPr lang="en-US"/>
          </a:p>
        </p:txBody>
      </p:sp>
      <p:sp>
        <p:nvSpPr>
          <p:cNvPr id="7" name="Text 4"/>
          <p:cNvSpPr/>
          <p:nvPr/>
        </p:nvSpPr>
        <p:spPr>
          <a:xfrm>
            <a:off x="411480" y="1417320"/>
            <a:ext cx="411480" cy="411480"/>
          </a:xfrm>
          <a:prstGeom prst="rect">
            <a:avLst/>
          </a:prstGeom>
          <a:noFill/>
          <a:ln/>
        </p:spPr>
        <p:txBody>
          <a:bodyPr wrap="square" rtlCol="0" anchor="ctr"/>
          <a:lstStyle/>
          <a:p>
            <a:pPr marL="0" indent="0" algn="ctr">
              <a:buNone/>
            </a:pPr>
            <a:r>
              <a:rPr lang="en-US" sz="1600" b="1" dirty="0">
                <a:solidFill>
                  <a:srgbClr val="FFFFFF"/>
                </a:solidFill>
              </a:rPr>
              <a:t>1</a:t>
            </a:r>
            <a:endParaRPr lang="en-US" sz="1600" dirty="0"/>
          </a:p>
        </p:txBody>
      </p:sp>
      <p:sp>
        <p:nvSpPr>
          <p:cNvPr id="8" name="Text 5"/>
          <p:cNvSpPr/>
          <p:nvPr/>
        </p:nvSpPr>
        <p:spPr>
          <a:xfrm>
            <a:off x="914400" y="1417320"/>
            <a:ext cx="1828800" cy="411480"/>
          </a:xfrm>
          <a:prstGeom prst="rect">
            <a:avLst/>
          </a:prstGeom>
          <a:noFill/>
          <a:ln/>
        </p:spPr>
        <p:txBody>
          <a:bodyPr wrap="square" rtlCol="0" anchor="ctr"/>
          <a:lstStyle/>
          <a:p>
            <a:pPr marL="0" indent="0">
              <a:buNone/>
            </a:pPr>
            <a:r>
              <a:rPr lang="en-US" sz="1300" b="1" dirty="0">
                <a:solidFill>
                  <a:srgbClr val="4A80C4"/>
                </a:solidFill>
              </a:rPr>
              <a:t>EXPLORE</a:t>
            </a:r>
            <a:endParaRPr lang="en-US" sz="1300" dirty="0"/>
          </a:p>
        </p:txBody>
      </p:sp>
      <p:sp>
        <p:nvSpPr>
          <p:cNvPr id="9" name="Text 6"/>
          <p:cNvSpPr/>
          <p:nvPr/>
        </p:nvSpPr>
        <p:spPr>
          <a:xfrm>
            <a:off x="457200" y="1965960"/>
            <a:ext cx="2286000" cy="1645920"/>
          </a:xfrm>
          <a:prstGeom prst="rect">
            <a:avLst/>
          </a:prstGeom>
          <a:noFill/>
          <a:ln/>
        </p:spPr>
        <p:txBody>
          <a:bodyPr wrap="square" rtlCol="0" anchor="t"/>
          <a:lstStyle/>
          <a:p>
            <a:pPr marL="0" indent="0">
              <a:buNone/>
            </a:pPr>
            <a:r>
              <a:rPr lang="en-US" sz="1100" dirty="0">
                <a:solidFill>
                  <a:srgbClr val="4A5568"/>
                </a:solidFill>
              </a:rPr>
              <a:t>• AI agent explores the student's GitHub repo
• Reads actual source files, not just tests
• Maps implementation choices and patterns
</a:t>
            </a:r>
            <a:endParaRPr lang="en-US" sz="1100" dirty="0"/>
          </a:p>
        </p:txBody>
      </p:sp>
      <p:sp>
        <p:nvSpPr>
          <p:cNvPr id="10" name="Shape 7"/>
          <p:cNvSpPr/>
          <p:nvPr/>
        </p:nvSpPr>
        <p:spPr>
          <a:xfrm>
            <a:off x="3108960" y="1280160"/>
            <a:ext cx="2651760" cy="2468880"/>
          </a:xfrm>
          <a:prstGeom prst="rect">
            <a:avLst/>
          </a:prstGeom>
          <a:solidFill>
            <a:srgbClr val="F0F4F8"/>
          </a:solidFill>
          <a:ln/>
        </p:spPr>
        <p:txBody>
          <a:bodyPr/>
          <a:lstStyle/>
          <a:p>
            <a:endParaRPr lang="en-US"/>
          </a:p>
        </p:txBody>
      </p:sp>
      <p:sp>
        <p:nvSpPr>
          <p:cNvPr id="11" name="Shape 8"/>
          <p:cNvSpPr/>
          <p:nvPr/>
        </p:nvSpPr>
        <p:spPr>
          <a:xfrm>
            <a:off x="3246120" y="1417320"/>
            <a:ext cx="411480" cy="411480"/>
          </a:xfrm>
          <a:prstGeom prst="ellipse">
            <a:avLst/>
          </a:prstGeom>
          <a:solidFill>
            <a:srgbClr val="2D8A4E"/>
          </a:solidFill>
          <a:ln/>
        </p:spPr>
        <p:txBody>
          <a:bodyPr/>
          <a:lstStyle/>
          <a:p>
            <a:endParaRPr lang="en-US"/>
          </a:p>
        </p:txBody>
      </p:sp>
      <p:sp>
        <p:nvSpPr>
          <p:cNvPr id="12" name="Text 9"/>
          <p:cNvSpPr/>
          <p:nvPr/>
        </p:nvSpPr>
        <p:spPr>
          <a:xfrm>
            <a:off x="3246120" y="1417320"/>
            <a:ext cx="411480" cy="411480"/>
          </a:xfrm>
          <a:prstGeom prst="rect">
            <a:avLst/>
          </a:prstGeom>
          <a:noFill/>
          <a:ln/>
        </p:spPr>
        <p:txBody>
          <a:bodyPr wrap="square" rtlCol="0" anchor="ctr"/>
          <a:lstStyle/>
          <a:p>
            <a:pPr marL="0" indent="0" algn="ctr">
              <a:buNone/>
            </a:pPr>
            <a:r>
              <a:rPr lang="en-US" sz="1600" b="1" dirty="0">
                <a:solidFill>
                  <a:srgbClr val="FFFFFF"/>
                </a:solidFill>
              </a:rPr>
              <a:t>2</a:t>
            </a:r>
            <a:endParaRPr lang="en-US" sz="1600" dirty="0"/>
          </a:p>
        </p:txBody>
      </p:sp>
      <p:sp>
        <p:nvSpPr>
          <p:cNvPr id="13" name="Text 10"/>
          <p:cNvSpPr/>
          <p:nvPr/>
        </p:nvSpPr>
        <p:spPr>
          <a:xfrm>
            <a:off x="3749040" y="1417320"/>
            <a:ext cx="1828800" cy="411480"/>
          </a:xfrm>
          <a:prstGeom prst="rect">
            <a:avLst/>
          </a:prstGeom>
          <a:noFill/>
          <a:ln/>
        </p:spPr>
        <p:txBody>
          <a:bodyPr wrap="square" rtlCol="0" anchor="ctr"/>
          <a:lstStyle/>
          <a:p>
            <a:pPr marL="0" indent="0">
              <a:buNone/>
            </a:pPr>
            <a:r>
              <a:rPr lang="en-US" sz="1300" b="1" dirty="0">
                <a:solidFill>
                  <a:srgbClr val="2D8A4E"/>
                </a:solidFill>
              </a:rPr>
              <a:t>QUESTION</a:t>
            </a:r>
            <a:endParaRPr lang="en-US" sz="1300" dirty="0"/>
          </a:p>
        </p:txBody>
      </p:sp>
      <p:sp>
        <p:nvSpPr>
          <p:cNvPr id="14" name="Text 11"/>
          <p:cNvSpPr/>
          <p:nvPr/>
        </p:nvSpPr>
        <p:spPr>
          <a:xfrm>
            <a:off x="3291840" y="1965960"/>
            <a:ext cx="2286000" cy="1645920"/>
          </a:xfrm>
          <a:prstGeom prst="rect">
            <a:avLst/>
          </a:prstGeom>
          <a:noFill/>
          <a:ln/>
        </p:spPr>
        <p:txBody>
          <a:bodyPr wrap="square" rtlCol="0" anchor="t"/>
          <a:lstStyle/>
          <a:p>
            <a:pPr marL="0" indent="0">
              <a:buNone/>
            </a:pPr>
            <a:r>
              <a:rPr lang="en-US" sz="1100" dirty="0">
                <a:solidFill>
                  <a:srgbClr val="4A5568"/>
                </a:solidFill>
              </a:rPr>
              <a:t>• Personalized questions about their code
• Probes reasoning, not just recall
• Progressive hints on retry:
  1st: 100%  →  2nd: 75%  →  3rd: 60%
</a:t>
            </a:r>
            <a:endParaRPr lang="en-US" sz="1100" dirty="0"/>
          </a:p>
        </p:txBody>
      </p:sp>
      <p:sp>
        <p:nvSpPr>
          <p:cNvPr id="15" name="Shape 12"/>
          <p:cNvSpPr/>
          <p:nvPr/>
        </p:nvSpPr>
        <p:spPr>
          <a:xfrm>
            <a:off x="5943600" y="1280160"/>
            <a:ext cx="2651760" cy="2468880"/>
          </a:xfrm>
          <a:prstGeom prst="rect">
            <a:avLst/>
          </a:prstGeom>
          <a:solidFill>
            <a:srgbClr val="F0F4F8"/>
          </a:solidFill>
          <a:ln/>
        </p:spPr>
        <p:txBody>
          <a:bodyPr/>
          <a:lstStyle/>
          <a:p>
            <a:endParaRPr lang="en-US"/>
          </a:p>
        </p:txBody>
      </p:sp>
      <p:sp>
        <p:nvSpPr>
          <p:cNvPr id="16" name="Shape 13"/>
          <p:cNvSpPr/>
          <p:nvPr/>
        </p:nvSpPr>
        <p:spPr>
          <a:xfrm>
            <a:off x="6080760" y="1417320"/>
            <a:ext cx="411480" cy="411480"/>
          </a:xfrm>
          <a:prstGeom prst="ellipse">
            <a:avLst/>
          </a:prstGeom>
          <a:solidFill>
            <a:srgbClr val="C08040"/>
          </a:solidFill>
          <a:ln/>
        </p:spPr>
        <p:txBody>
          <a:bodyPr/>
          <a:lstStyle/>
          <a:p>
            <a:endParaRPr lang="en-US"/>
          </a:p>
        </p:txBody>
      </p:sp>
      <p:sp>
        <p:nvSpPr>
          <p:cNvPr id="17" name="Text 14"/>
          <p:cNvSpPr/>
          <p:nvPr/>
        </p:nvSpPr>
        <p:spPr>
          <a:xfrm>
            <a:off x="6080760" y="1417320"/>
            <a:ext cx="411480" cy="411480"/>
          </a:xfrm>
          <a:prstGeom prst="rect">
            <a:avLst/>
          </a:prstGeom>
          <a:noFill/>
          <a:ln/>
        </p:spPr>
        <p:txBody>
          <a:bodyPr wrap="square" rtlCol="0" anchor="ctr"/>
          <a:lstStyle/>
          <a:p>
            <a:pPr marL="0" indent="0" algn="ctr">
              <a:buNone/>
            </a:pPr>
            <a:r>
              <a:rPr lang="en-US" sz="1600" b="1" dirty="0">
                <a:solidFill>
                  <a:srgbClr val="FFFFFF"/>
                </a:solidFill>
              </a:rPr>
              <a:t>3</a:t>
            </a:r>
            <a:endParaRPr lang="en-US" sz="1600" dirty="0"/>
          </a:p>
        </p:txBody>
      </p:sp>
      <p:sp>
        <p:nvSpPr>
          <p:cNvPr id="18" name="Text 15"/>
          <p:cNvSpPr/>
          <p:nvPr/>
        </p:nvSpPr>
        <p:spPr>
          <a:xfrm>
            <a:off x="6583680" y="1417320"/>
            <a:ext cx="1828800" cy="411480"/>
          </a:xfrm>
          <a:prstGeom prst="rect">
            <a:avLst/>
          </a:prstGeom>
          <a:noFill/>
          <a:ln/>
        </p:spPr>
        <p:txBody>
          <a:bodyPr wrap="square" rtlCol="0" anchor="ctr"/>
          <a:lstStyle/>
          <a:p>
            <a:pPr marL="0" indent="0">
              <a:buNone/>
            </a:pPr>
            <a:r>
              <a:rPr lang="en-US" sz="1300" b="1" dirty="0">
                <a:solidFill>
                  <a:srgbClr val="C08040"/>
                </a:solidFill>
              </a:rPr>
              <a:t>EVALUATE</a:t>
            </a:r>
            <a:endParaRPr lang="en-US" sz="1300" dirty="0"/>
          </a:p>
        </p:txBody>
      </p:sp>
      <p:sp>
        <p:nvSpPr>
          <p:cNvPr id="19" name="Text 16"/>
          <p:cNvSpPr/>
          <p:nvPr/>
        </p:nvSpPr>
        <p:spPr>
          <a:xfrm>
            <a:off x="6126480" y="1965960"/>
            <a:ext cx="2286000" cy="1645920"/>
          </a:xfrm>
          <a:prstGeom prst="rect">
            <a:avLst/>
          </a:prstGeom>
          <a:noFill/>
          <a:ln/>
        </p:spPr>
        <p:txBody>
          <a:bodyPr wrap="square" rtlCol="0" anchor="t"/>
          <a:lstStyle/>
          <a:p>
            <a:pPr marL="0" indent="0">
              <a:buNone/>
            </a:pPr>
            <a:r>
              <a:rPr lang="en-US" sz="1100" dirty="0">
                <a:solidFill>
                  <a:srgbClr val="4A5568"/>
                </a:solidFill>
              </a:rPr>
              <a:t>• Assesses conceptual understanding
• Specific feedback on strengths &amp; gaps
• Tracks engagement: focus time, persistence, attempts
</a:t>
            </a:r>
            <a:endParaRPr lang="en-US" sz="1100" dirty="0"/>
          </a:p>
        </p:txBody>
      </p:sp>
      <p:sp>
        <p:nvSpPr>
          <p:cNvPr id="20" name="Shape 17"/>
          <p:cNvSpPr/>
          <p:nvPr/>
        </p:nvSpPr>
        <p:spPr>
          <a:xfrm>
            <a:off x="274320" y="3977640"/>
            <a:ext cx="8503920" cy="868680"/>
          </a:xfrm>
          <a:prstGeom prst="rect">
            <a:avLst/>
          </a:prstGeom>
          <a:solidFill>
            <a:srgbClr val="F0F4F8"/>
          </a:solidFill>
          <a:ln/>
        </p:spPr>
        <p:txBody>
          <a:bodyPr/>
          <a:lstStyle/>
          <a:p>
            <a:endParaRPr lang="en-US"/>
          </a:p>
        </p:txBody>
      </p:sp>
      <p:sp>
        <p:nvSpPr>
          <p:cNvPr id="21" name="Text 18"/>
          <p:cNvSpPr/>
          <p:nvPr/>
        </p:nvSpPr>
        <p:spPr>
          <a:xfrm>
            <a:off x="548640" y="4005072"/>
            <a:ext cx="7955280" cy="822960"/>
          </a:xfrm>
          <a:prstGeom prst="rect">
            <a:avLst/>
          </a:prstGeom>
          <a:noFill/>
          <a:ln/>
        </p:spPr>
        <p:txBody>
          <a:bodyPr wrap="square" rtlCol="0" anchor="ctr"/>
          <a:lstStyle/>
          <a:p>
            <a:pPr marL="0" indent="0">
              <a:buNone/>
            </a:pPr>
            <a:r>
              <a:rPr lang="en-US" sz="1100" b="1" dirty="0">
                <a:solidFill>
                  <a:srgbClr val="2D3748"/>
                </a:solidFill>
              </a:rPr>
              <a:t>Under the hood: </a:t>
            </a:r>
            <a:r>
              <a:rPr lang="en-US" sz="1100" b="1" dirty="0">
                <a:solidFill>
                  <a:srgbClr val="4A80C4"/>
                </a:solidFill>
              </a:rPr>
              <a:t>Anthropic Agent SDK</a:t>
            </a:r>
            <a:r>
              <a:rPr lang="en-US" sz="1000" dirty="0">
                <a:solidFill>
                  <a:srgbClr val="718096"/>
                </a:solidFill>
              </a:rPr>
              <a:t> with custom tools for presenting questions, exploring code, tracking scores &amp; attempts. Heavy prompt engineering for consistent evaluation.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p:nvPr/>
        </p:nvSpPr>
        <p:spPr>
          <a:xfrm>
            <a:off x="731520" y="182880"/>
            <a:ext cx="5486400" cy="548640"/>
          </a:xfrm>
          <a:prstGeom prst="rect">
            <a:avLst/>
          </a:prstGeom>
          <a:noFill/>
          <a:ln/>
        </p:spPr>
        <p:txBody>
          <a:bodyPr wrap="square" rtlCol="0" anchor="ctr"/>
          <a:lstStyle/>
          <a:p>
            <a:pPr marL="0" indent="0">
              <a:buNone/>
            </a:pPr>
            <a:r>
              <a:rPr lang="en-US" sz="2600" b="1" dirty="0">
                <a:solidFill>
                  <a:srgbClr val="2D3748"/>
                </a:solidFill>
              </a:rPr>
              <a:t>Some Survey Results</a:t>
            </a:r>
            <a:endParaRPr lang="en-US" sz="2600" dirty="0"/>
          </a:p>
        </p:txBody>
      </p:sp>
      <p:sp>
        <p:nvSpPr>
          <p:cNvPr id="4" name="Text 1"/>
          <p:cNvSpPr/>
          <p:nvPr/>
        </p:nvSpPr>
        <p:spPr>
          <a:xfrm>
            <a:off x="731520" y="640080"/>
            <a:ext cx="7680960" cy="274320"/>
          </a:xfrm>
          <a:prstGeom prst="rect">
            <a:avLst/>
          </a:prstGeom>
          <a:noFill/>
          <a:ln/>
        </p:spPr>
        <p:txBody>
          <a:bodyPr wrap="square" rtlCol="0" anchor="ctr"/>
          <a:lstStyle/>
          <a:p>
            <a:pPr marL="0" indent="0">
              <a:buNone/>
            </a:pPr>
            <a:r>
              <a:rPr lang="en-US" sz="1000" dirty="0">
                <a:solidFill>
                  <a:srgbClr val="A0AEC0"/>
                </a:solidFill>
              </a:rPr>
              <a:t>5-point Likert scale  •  Midterm survey (n=20)  •  CS 52 W26</a:t>
            </a:r>
            <a:endParaRPr lang="en-US" sz="1000" dirty="0"/>
          </a:p>
        </p:txBody>
      </p:sp>
      <p:sp>
        <p:nvSpPr>
          <p:cNvPr id="72" name="Shape 2">
            <a:extLst>
              <a:ext uri="{FF2B5EF4-FFF2-40B4-BE49-F238E27FC236}">
                <a16:creationId xmlns:a16="http://schemas.microsoft.com/office/drawing/2014/main" id="{5D4BEC41-95E7-CAD7-9ADB-C57B9F28C056}"/>
              </a:ext>
            </a:extLst>
          </p:cNvPr>
          <p:cNvSpPr/>
          <p:nvPr/>
        </p:nvSpPr>
        <p:spPr>
          <a:xfrm>
            <a:off x="274320" y="1051560"/>
            <a:ext cx="4206240" cy="1737360"/>
          </a:xfrm>
          <a:prstGeom prst="rect">
            <a:avLst/>
          </a:prstGeom>
          <a:solidFill>
            <a:srgbClr val="F0F4F8"/>
          </a:solidFill>
          <a:ln/>
        </p:spPr>
        <p:txBody>
          <a:bodyPr/>
          <a:lstStyle/>
          <a:p>
            <a:endParaRPr lang="en-US"/>
          </a:p>
        </p:txBody>
      </p:sp>
      <p:sp>
        <p:nvSpPr>
          <p:cNvPr id="73" name="Text 3">
            <a:extLst>
              <a:ext uri="{FF2B5EF4-FFF2-40B4-BE49-F238E27FC236}">
                <a16:creationId xmlns:a16="http://schemas.microsoft.com/office/drawing/2014/main" id="{FC2AD212-9036-FD64-4FA2-92C5849E7844}"/>
              </a:ext>
            </a:extLst>
          </p:cNvPr>
          <p:cNvSpPr/>
          <p:nvPr/>
        </p:nvSpPr>
        <p:spPr>
          <a:xfrm>
            <a:off x="457200" y="1143000"/>
            <a:ext cx="2743200" cy="320040"/>
          </a:xfrm>
          <a:prstGeom prst="rect">
            <a:avLst/>
          </a:prstGeom>
          <a:noFill/>
          <a:ln/>
        </p:spPr>
        <p:txBody>
          <a:bodyPr wrap="square" rtlCol="0" anchor="ctr"/>
          <a:lstStyle/>
          <a:p>
            <a:pPr marL="0" indent="0">
              <a:buNone/>
            </a:pPr>
            <a:r>
              <a:rPr lang="en-US" sz="1000" b="1" dirty="0">
                <a:solidFill>
                  <a:srgbClr val="2D8A4E"/>
                </a:solidFill>
              </a:rPr>
              <a:t>LEARNING</a:t>
            </a:r>
            <a:endParaRPr lang="en-US" sz="1000" dirty="0"/>
          </a:p>
        </p:txBody>
      </p:sp>
      <p:sp>
        <p:nvSpPr>
          <p:cNvPr id="74" name="Text 4">
            <a:extLst>
              <a:ext uri="{FF2B5EF4-FFF2-40B4-BE49-F238E27FC236}">
                <a16:creationId xmlns:a16="http://schemas.microsoft.com/office/drawing/2014/main" id="{300E1A43-A894-DD4D-5F34-73CAB510F3EA}"/>
              </a:ext>
            </a:extLst>
          </p:cNvPr>
          <p:cNvSpPr/>
          <p:nvPr/>
        </p:nvSpPr>
        <p:spPr>
          <a:xfrm>
            <a:off x="457200" y="1508760"/>
            <a:ext cx="2377440" cy="274320"/>
          </a:xfrm>
          <a:prstGeom prst="rect">
            <a:avLst/>
          </a:prstGeom>
          <a:noFill/>
          <a:ln/>
        </p:spPr>
        <p:txBody>
          <a:bodyPr wrap="square" rtlCol="0" anchor="ctr"/>
          <a:lstStyle/>
          <a:p>
            <a:pPr marL="0" indent="0">
              <a:buNone/>
            </a:pPr>
            <a:r>
              <a:rPr lang="en-US" sz="1100" dirty="0">
                <a:solidFill>
                  <a:srgbClr val="4A5568"/>
                </a:solidFill>
              </a:rPr>
              <a:t>my own code &gt; generic questions</a:t>
            </a:r>
            <a:endParaRPr lang="en-US" sz="1100" dirty="0"/>
          </a:p>
        </p:txBody>
      </p:sp>
      <p:sp>
        <p:nvSpPr>
          <p:cNvPr id="75" name="Shape 5">
            <a:extLst>
              <a:ext uri="{FF2B5EF4-FFF2-40B4-BE49-F238E27FC236}">
                <a16:creationId xmlns:a16="http://schemas.microsoft.com/office/drawing/2014/main" id="{370B87EB-660E-0E73-54A2-3A1FD8B568F9}"/>
              </a:ext>
            </a:extLst>
          </p:cNvPr>
          <p:cNvSpPr/>
          <p:nvPr/>
        </p:nvSpPr>
        <p:spPr>
          <a:xfrm>
            <a:off x="2834640" y="1572768"/>
            <a:ext cx="1188720" cy="146304"/>
          </a:xfrm>
          <a:prstGeom prst="rect">
            <a:avLst/>
          </a:prstGeom>
          <a:solidFill>
            <a:srgbClr val="E2E8F0"/>
          </a:solidFill>
          <a:ln/>
        </p:spPr>
        <p:txBody>
          <a:bodyPr/>
          <a:lstStyle/>
          <a:p>
            <a:endParaRPr lang="en-US"/>
          </a:p>
        </p:txBody>
      </p:sp>
      <p:sp>
        <p:nvSpPr>
          <p:cNvPr id="76" name="Shape 6">
            <a:extLst>
              <a:ext uri="{FF2B5EF4-FFF2-40B4-BE49-F238E27FC236}">
                <a16:creationId xmlns:a16="http://schemas.microsoft.com/office/drawing/2014/main" id="{971FCDC2-D2AB-FC61-593B-2375CF42CF21}"/>
              </a:ext>
            </a:extLst>
          </p:cNvPr>
          <p:cNvSpPr/>
          <p:nvPr/>
        </p:nvSpPr>
        <p:spPr>
          <a:xfrm>
            <a:off x="2834640" y="1572768"/>
            <a:ext cx="1055583" cy="146304"/>
          </a:xfrm>
          <a:prstGeom prst="rect">
            <a:avLst/>
          </a:prstGeom>
          <a:solidFill>
            <a:srgbClr val="2D8A4E"/>
          </a:solidFill>
          <a:ln/>
        </p:spPr>
        <p:txBody>
          <a:bodyPr/>
          <a:lstStyle/>
          <a:p>
            <a:endParaRPr lang="en-US"/>
          </a:p>
        </p:txBody>
      </p:sp>
      <p:sp>
        <p:nvSpPr>
          <p:cNvPr id="77" name="Text 7">
            <a:extLst>
              <a:ext uri="{FF2B5EF4-FFF2-40B4-BE49-F238E27FC236}">
                <a16:creationId xmlns:a16="http://schemas.microsoft.com/office/drawing/2014/main" id="{ED260A01-0FAA-1B1D-63C0-1EDF5348CA54}"/>
              </a:ext>
            </a:extLst>
          </p:cNvPr>
          <p:cNvSpPr/>
          <p:nvPr/>
        </p:nvSpPr>
        <p:spPr>
          <a:xfrm>
            <a:off x="4069080" y="1508760"/>
            <a:ext cx="457200" cy="274320"/>
          </a:xfrm>
          <a:prstGeom prst="rect">
            <a:avLst/>
          </a:prstGeom>
          <a:noFill/>
          <a:ln/>
        </p:spPr>
        <p:txBody>
          <a:bodyPr wrap="square" rtlCol="0" anchor="ctr"/>
          <a:lstStyle/>
          <a:p>
            <a:pPr marL="0" indent="0">
              <a:buNone/>
            </a:pPr>
            <a:r>
              <a:rPr lang="en-US" sz="900" b="1" dirty="0">
                <a:solidFill>
                  <a:srgbClr val="2D8A4E"/>
                </a:solidFill>
              </a:rPr>
              <a:t>4.4</a:t>
            </a:r>
            <a:endParaRPr lang="en-US" sz="900" dirty="0"/>
          </a:p>
        </p:txBody>
      </p:sp>
      <p:sp>
        <p:nvSpPr>
          <p:cNvPr id="78" name="Text 8">
            <a:extLst>
              <a:ext uri="{FF2B5EF4-FFF2-40B4-BE49-F238E27FC236}">
                <a16:creationId xmlns:a16="http://schemas.microsoft.com/office/drawing/2014/main" id="{DC0CAB01-FF99-B214-2FD4-BA9D261C4765}"/>
              </a:ext>
            </a:extLst>
          </p:cNvPr>
          <p:cNvSpPr/>
          <p:nvPr/>
        </p:nvSpPr>
        <p:spPr>
          <a:xfrm>
            <a:off x="457200" y="1920240"/>
            <a:ext cx="2377440" cy="274320"/>
          </a:xfrm>
          <a:prstGeom prst="rect">
            <a:avLst/>
          </a:prstGeom>
          <a:noFill/>
          <a:ln/>
        </p:spPr>
        <p:txBody>
          <a:bodyPr wrap="square" rtlCol="0" anchor="ctr"/>
          <a:lstStyle/>
          <a:p>
            <a:pPr marL="0" indent="0">
              <a:buNone/>
            </a:pPr>
            <a:r>
              <a:rPr lang="en-US" sz="1100" dirty="0">
                <a:solidFill>
                  <a:srgbClr val="4A5568"/>
                </a:solidFill>
              </a:rPr>
              <a:t>helped identify gaps in understanding</a:t>
            </a:r>
            <a:endParaRPr lang="en-US" sz="1100" dirty="0"/>
          </a:p>
        </p:txBody>
      </p:sp>
      <p:sp>
        <p:nvSpPr>
          <p:cNvPr id="79" name="Shape 9">
            <a:extLst>
              <a:ext uri="{FF2B5EF4-FFF2-40B4-BE49-F238E27FC236}">
                <a16:creationId xmlns:a16="http://schemas.microsoft.com/office/drawing/2014/main" id="{4A1A81C0-755F-5B31-28B4-1F6EF2942A01}"/>
              </a:ext>
            </a:extLst>
          </p:cNvPr>
          <p:cNvSpPr/>
          <p:nvPr/>
        </p:nvSpPr>
        <p:spPr>
          <a:xfrm>
            <a:off x="2834640" y="1984248"/>
            <a:ext cx="1188720" cy="146304"/>
          </a:xfrm>
          <a:prstGeom prst="rect">
            <a:avLst/>
          </a:prstGeom>
          <a:solidFill>
            <a:srgbClr val="E2E8F0"/>
          </a:solidFill>
          <a:ln/>
        </p:spPr>
        <p:txBody>
          <a:bodyPr/>
          <a:lstStyle/>
          <a:p>
            <a:endParaRPr lang="en-US"/>
          </a:p>
        </p:txBody>
      </p:sp>
      <p:sp>
        <p:nvSpPr>
          <p:cNvPr id="80" name="Shape 10">
            <a:extLst>
              <a:ext uri="{FF2B5EF4-FFF2-40B4-BE49-F238E27FC236}">
                <a16:creationId xmlns:a16="http://schemas.microsoft.com/office/drawing/2014/main" id="{21E11EA9-8B0C-7D80-62D8-5FD2CB898DA5}"/>
              </a:ext>
            </a:extLst>
          </p:cNvPr>
          <p:cNvSpPr/>
          <p:nvPr/>
        </p:nvSpPr>
        <p:spPr>
          <a:xfrm>
            <a:off x="2834640" y="1984248"/>
            <a:ext cx="965241" cy="146304"/>
          </a:xfrm>
          <a:prstGeom prst="rect">
            <a:avLst/>
          </a:prstGeom>
          <a:solidFill>
            <a:srgbClr val="2D8A4E"/>
          </a:solidFill>
          <a:ln/>
        </p:spPr>
        <p:txBody>
          <a:bodyPr/>
          <a:lstStyle/>
          <a:p>
            <a:endParaRPr lang="en-US"/>
          </a:p>
        </p:txBody>
      </p:sp>
      <p:sp>
        <p:nvSpPr>
          <p:cNvPr id="81" name="Text 11">
            <a:extLst>
              <a:ext uri="{FF2B5EF4-FFF2-40B4-BE49-F238E27FC236}">
                <a16:creationId xmlns:a16="http://schemas.microsoft.com/office/drawing/2014/main" id="{97FDD490-05C8-4689-AD96-03BCCB56E33F}"/>
              </a:ext>
            </a:extLst>
          </p:cNvPr>
          <p:cNvSpPr/>
          <p:nvPr/>
        </p:nvSpPr>
        <p:spPr>
          <a:xfrm>
            <a:off x="4069080" y="1920240"/>
            <a:ext cx="457200" cy="274320"/>
          </a:xfrm>
          <a:prstGeom prst="rect">
            <a:avLst/>
          </a:prstGeom>
          <a:noFill/>
          <a:ln/>
        </p:spPr>
        <p:txBody>
          <a:bodyPr wrap="square" rtlCol="0" anchor="ctr"/>
          <a:lstStyle/>
          <a:p>
            <a:pPr marL="0" indent="0">
              <a:buNone/>
            </a:pPr>
            <a:r>
              <a:rPr lang="en-US" sz="900" b="1" dirty="0">
                <a:solidFill>
                  <a:srgbClr val="2D8A4E"/>
                </a:solidFill>
              </a:rPr>
              <a:t>4.1</a:t>
            </a:r>
            <a:endParaRPr lang="en-US" sz="900" dirty="0"/>
          </a:p>
        </p:txBody>
      </p:sp>
      <p:sp>
        <p:nvSpPr>
          <p:cNvPr id="82" name="Text 12">
            <a:extLst>
              <a:ext uri="{FF2B5EF4-FFF2-40B4-BE49-F238E27FC236}">
                <a16:creationId xmlns:a16="http://schemas.microsoft.com/office/drawing/2014/main" id="{9648D4AA-EB0C-B6F6-A620-44CEE3136B2D}"/>
              </a:ext>
            </a:extLst>
          </p:cNvPr>
          <p:cNvSpPr/>
          <p:nvPr/>
        </p:nvSpPr>
        <p:spPr>
          <a:xfrm>
            <a:off x="457200" y="2331720"/>
            <a:ext cx="2377440" cy="274320"/>
          </a:xfrm>
          <a:prstGeom prst="rect">
            <a:avLst/>
          </a:prstGeom>
          <a:noFill/>
          <a:ln/>
        </p:spPr>
        <p:txBody>
          <a:bodyPr wrap="square" rtlCol="0" anchor="ctr"/>
          <a:lstStyle/>
          <a:p>
            <a:pPr marL="0" indent="0">
              <a:buNone/>
            </a:pPr>
            <a:r>
              <a:rPr lang="en-US" sz="1100" dirty="0">
                <a:solidFill>
                  <a:srgbClr val="4A5568"/>
                </a:solidFill>
              </a:rPr>
              <a:t>hints helped learn, not just get answer</a:t>
            </a:r>
            <a:endParaRPr lang="en-US" sz="1100" dirty="0"/>
          </a:p>
        </p:txBody>
      </p:sp>
      <p:sp>
        <p:nvSpPr>
          <p:cNvPr id="83" name="Shape 13">
            <a:extLst>
              <a:ext uri="{FF2B5EF4-FFF2-40B4-BE49-F238E27FC236}">
                <a16:creationId xmlns:a16="http://schemas.microsoft.com/office/drawing/2014/main" id="{299A5DE0-E032-643B-C499-8EB7EAB77B72}"/>
              </a:ext>
            </a:extLst>
          </p:cNvPr>
          <p:cNvSpPr/>
          <p:nvPr/>
        </p:nvSpPr>
        <p:spPr>
          <a:xfrm>
            <a:off x="2834640" y="2395728"/>
            <a:ext cx="1188720" cy="146304"/>
          </a:xfrm>
          <a:prstGeom prst="rect">
            <a:avLst/>
          </a:prstGeom>
          <a:solidFill>
            <a:srgbClr val="E2E8F0"/>
          </a:solidFill>
          <a:ln/>
        </p:spPr>
        <p:txBody>
          <a:bodyPr/>
          <a:lstStyle/>
          <a:p>
            <a:endParaRPr lang="en-US"/>
          </a:p>
        </p:txBody>
      </p:sp>
      <p:sp>
        <p:nvSpPr>
          <p:cNvPr id="84" name="Shape 14">
            <a:extLst>
              <a:ext uri="{FF2B5EF4-FFF2-40B4-BE49-F238E27FC236}">
                <a16:creationId xmlns:a16="http://schemas.microsoft.com/office/drawing/2014/main" id="{9D66EBD0-43DF-5395-9D4A-7807A3AC8FD7}"/>
              </a:ext>
            </a:extLst>
          </p:cNvPr>
          <p:cNvSpPr/>
          <p:nvPr/>
        </p:nvSpPr>
        <p:spPr>
          <a:xfrm>
            <a:off x="2834640" y="2395728"/>
            <a:ext cx="846369" cy="146304"/>
          </a:xfrm>
          <a:prstGeom prst="rect">
            <a:avLst/>
          </a:prstGeom>
          <a:solidFill>
            <a:srgbClr val="2D8A4E"/>
          </a:solidFill>
          <a:ln/>
        </p:spPr>
        <p:txBody>
          <a:bodyPr/>
          <a:lstStyle/>
          <a:p>
            <a:endParaRPr lang="en-US"/>
          </a:p>
        </p:txBody>
      </p:sp>
      <p:sp>
        <p:nvSpPr>
          <p:cNvPr id="85" name="Text 15">
            <a:extLst>
              <a:ext uri="{FF2B5EF4-FFF2-40B4-BE49-F238E27FC236}">
                <a16:creationId xmlns:a16="http://schemas.microsoft.com/office/drawing/2014/main" id="{FF097481-7525-8FB8-0AFC-A9B75B515FBD}"/>
              </a:ext>
            </a:extLst>
          </p:cNvPr>
          <p:cNvSpPr/>
          <p:nvPr/>
        </p:nvSpPr>
        <p:spPr>
          <a:xfrm>
            <a:off x="4069080" y="2331720"/>
            <a:ext cx="457200" cy="274320"/>
          </a:xfrm>
          <a:prstGeom prst="rect">
            <a:avLst/>
          </a:prstGeom>
          <a:noFill/>
          <a:ln/>
        </p:spPr>
        <p:txBody>
          <a:bodyPr wrap="square" rtlCol="0" anchor="ctr"/>
          <a:lstStyle/>
          <a:p>
            <a:pPr marL="0" indent="0">
              <a:buNone/>
            </a:pPr>
            <a:r>
              <a:rPr lang="en-US" sz="900" b="1" dirty="0">
                <a:solidFill>
                  <a:srgbClr val="2D8A4E"/>
                </a:solidFill>
              </a:rPr>
              <a:t>3.6</a:t>
            </a:r>
            <a:endParaRPr lang="en-US" sz="900" dirty="0"/>
          </a:p>
        </p:txBody>
      </p:sp>
      <p:sp>
        <p:nvSpPr>
          <p:cNvPr id="86" name="Shape 16">
            <a:extLst>
              <a:ext uri="{FF2B5EF4-FFF2-40B4-BE49-F238E27FC236}">
                <a16:creationId xmlns:a16="http://schemas.microsoft.com/office/drawing/2014/main" id="{13E0D06E-23F4-DA73-CEB6-4DB11F56AACD}"/>
              </a:ext>
            </a:extLst>
          </p:cNvPr>
          <p:cNvSpPr/>
          <p:nvPr/>
        </p:nvSpPr>
        <p:spPr>
          <a:xfrm>
            <a:off x="4572000" y="1051560"/>
            <a:ext cx="4206240" cy="1737360"/>
          </a:xfrm>
          <a:prstGeom prst="rect">
            <a:avLst/>
          </a:prstGeom>
          <a:solidFill>
            <a:srgbClr val="F0F4F8"/>
          </a:solidFill>
          <a:ln/>
        </p:spPr>
        <p:txBody>
          <a:bodyPr/>
          <a:lstStyle/>
          <a:p>
            <a:endParaRPr lang="en-US"/>
          </a:p>
        </p:txBody>
      </p:sp>
      <p:sp>
        <p:nvSpPr>
          <p:cNvPr id="87" name="Text 17">
            <a:extLst>
              <a:ext uri="{FF2B5EF4-FFF2-40B4-BE49-F238E27FC236}">
                <a16:creationId xmlns:a16="http://schemas.microsoft.com/office/drawing/2014/main" id="{FFCBF5C6-BAD4-F696-CD7C-BF2AD42F4880}"/>
              </a:ext>
            </a:extLst>
          </p:cNvPr>
          <p:cNvSpPr/>
          <p:nvPr/>
        </p:nvSpPr>
        <p:spPr>
          <a:xfrm>
            <a:off x="4754880" y="1143000"/>
            <a:ext cx="2743200" cy="320040"/>
          </a:xfrm>
          <a:prstGeom prst="rect">
            <a:avLst/>
          </a:prstGeom>
          <a:noFill/>
          <a:ln/>
        </p:spPr>
        <p:txBody>
          <a:bodyPr wrap="square" rtlCol="0" anchor="ctr"/>
          <a:lstStyle/>
          <a:p>
            <a:pPr marL="0" indent="0">
              <a:buNone/>
            </a:pPr>
            <a:r>
              <a:rPr lang="en-US" sz="1000" b="1" dirty="0">
                <a:solidFill>
                  <a:srgbClr val="4A80C4"/>
                </a:solidFill>
              </a:rPr>
              <a:t>FORMAT PREFERENCE</a:t>
            </a:r>
            <a:endParaRPr lang="en-US" sz="1000" dirty="0"/>
          </a:p>
        </p:txBody>
      </p:sp>
      <p:sp>
        <p:nvSpPr>
          <p:cNvPr id="88" name="Text 18">
            <a:extLst>
              <a:ext uri="{FF2B5EF4-FFF2-40B4-BE49-F238E27FC236}">
                <a16:creationId xmlns:a16="http://schemas.microsoft.com/office/drawing/2014/main" id="{6A1A645B-B94D-1F49-E72E-D3477FE62E43}"/>
              </a:ext>
            </a:extLst>
          </p:cNvPr>
          <p:cNvSpPr/>
          <p:nvPr/>
        </p:nvSpPr>
        <p:spPr>
          <a:xfrm>
            <a:off x="4754880" y="1508760"/>
            <a:ext cx="2377440" cy="274320"/>
          </a:xfrm>
          <a:prstGeom prst="rect">
            <a:avLst/>
          </a:prstGeom>
          <a:noFill/>
          <a:ln/>
        </p:spPr>
        <p:txBody>
          <a:bodyPr wrap="square" rtlCol="0" anchor="ctr"/>
          <a:lstStyle/>
          <a:p>
            <a:pPr marL="0" indent="0">
              <a:buNone/>
            </a:pPr>
            <a:r>
              <a:rPr lang="en-US" sz="1100" dirty="0">
                <a:solidFill>
                  <a:srgbClr val="4A5568"/>
                </a:solidFill>
              </a:rPr>
              <a:t>prefer conversational over MC</a:t>
            </a:r>
            <a:endParaRPr lang="en-US" sz="1100" dirty="0"/>
          </a:p>
        </p:txBody>
      </p:sp>
      <p:sp>
        <p:nvSpPr>
          <p:cNvPr id="89" name="Shape 19">
            <a:extLst>
              <a:ext uri="{FF2B5EF4-FFF2-40B4-BE49-F238E27FC236}">
                <a16:creationId xmlns:a16="http://schemas.microsoft.com/office/drawing/2014/main" id="{FA22C93E-9CDD-94BB-FAED-2554BB18E8A0}"/>
              </a:ext>
            </a:extLst>
          </p:cNvPr>
          <p:cNvSpPr/>
          <p:nvPr/>
        </p:nvSpPr>
        <p:spPr>
          <a:xfrm>
            <a:off x="7132320" y="1572768"/>
            <a:ext cx="1188720" cy="146304"/>
          </a:xfrm>
          <a:prstGeom prst="rect">
            <a:avLst/>
          </a:prstGeom>
          <a:solidFill>
            <a:srgbClr val="E2E8F0"/>
          </a:solidFill>
          <a:ln/>
        </p:spPr>
        <p:txBody>
          <a:bodyPr/>
          <a:lstStyle/>
          <a:p>
            <a:endParaRPr lang="en-US"/>
          </a:p>
        </p:txBody>
      </p:sp>
      <p:sp>
        <p:nvSpPr>
          <p:cNvPr id="90" name="Shape 20">
            <a:extLst>
              <a:ext uri="{FF2B5EF4-FFF2-40B4-BE49-F238E27FC236}">
                <a16:creationId xmlns:a16="http://schemas.microsoft.com/office/drawing/2014/main" id="{591CD5E0-6DB1-EC3E-D97D-2E8FA57C5DD0}"/>
              </a:ext>
            </a:extLst>
          </p:cNvPr>
          <p:cNvSpPr/>
          <p:nvPr/>
        </p:nvSpPr>
        <p:spPr>
          <a:xfrm>
            <a:off x="7132320" y="1572768"/>
            <a:ext cx="965241" cy="146304"/>
          </a:xfrm>
          <a:prstGeom prst="rect">
            <a:avLst/>
          </a:prstGeom>
          <a:solidFill>
            <a:srgbClr val="4A80C4"/>
          </a:solidFill>
          <a:ln/>
        </p:spPr>
        <p:txBody>
          <a:bodyPr/>
          <a:lstStyle/>
          <a:p>
            <a:endParaRPr lang="en-US"/>
          </a:p>
        </p:txBody>
      </p:sp>
      <p:sp>
        <p:nvSpPr>
          <p:cNvPr id="91" name="Text 21">
            <a:extLst>
              <a:ext uri="{FF2B5EF4-FFF2-40B4-BE49-F238E27FC236}">
                <a16:creationId xmlns:a16="http://schemas.microsoft.com/office/drawing/2014/main" id="{58DB13AC-D221-3F57-6B9B-3D3081820A6E}"/>
              </a:ext>
            </a:extLst>
          </p:cNvPr>
          <p:cNvSpPr/>
          <p:nvPr/>
        </p:nvSpPr>
        <p:spPr>
          <a:xfrm>
            <a:off x="8366760" y="1508760"/>
            <a:ext cx="457200" cy="274320"/>
          </a:xfrm>
          <a:prstGeom prst="rect">
            <a:avLst/>
          </a:prstGeom>
          <a:noFill/>
          <a:ln/>
        </p:spPr>
        <p:txBody>
          <a:bodyPr wrap="square" rtlCol="0" anchor="ctr"/>
          <a:lstStyle/>
          <a:p>
            <a:pPr marL="0" indent="0">
              <a:buNone/>
            </a:pPr>
            <a:r>
              <a:rPr lang="en-US" sz="900" b="1" dirty="0">
                <a:solidFill>
                  <a:srgbClr val="4A80C4"/>
                </a:solidFill>
              </a:rPr>
              <a:t>4.1</a:t>
            </a:r>
            <a:endParaRPr lang="en-US" sz="900" dirty="0"/>
          </a:p>
        </p:txBody>
      </p:sp>
      <p:sp>
        <p:nvSpPr>
          <p:cNvPr id="92" name="Text 22">
            <a:extLst>
              <a:ext uri="{FF2B5EF4-FFF2-40B4-BE49-F238E27FC236}">
                <a16:creationId xmlns:a16="http://schemas.microsoft.com/office/drawing/2014/main" id="{A727D4F2-2D57-6566-63ED-702C48A698E2}"/>
              </a:ext>
            </a:extLst>
          </p:cNvPr>
          <p:cNvSpPr/>
          <p:nvPr/>
        </p:nvSpPr>
        <p:spPr>
          <a:xfrm>
            <a:off x="4754880" y="1920240"/>
            <a:ext cx="2377440" cy="274320"/>
          </a:xfrm>
          <a:prstGeom prst="rect">
            <a:avLst/>
          </a:prstGeom>
          <a:noFill/>
          <a:ln/>
        </p:spPr>
        <p:txBody>
          <a:bodyPr wrap="square" rtlCol="0" anchor="ctr"/>
          <a:lstStyle/>
          <a:p>
            <a:pPr marL="0" indent="0">
              <a:buNone/>
            </a:pPr>
            <a:r>
              <a:rPr lang="en-US" sz="1100" dirty="0">
                <a:solidFill>
                  <a:srgbClr val="4A5568"/>
                </a:solidFill>
              </a:rPr>
              <a:t>felt more like learning than a test</a:t>
            </a:r>
            <a:endParaRPr lang="en-US" sz="1100" dirty="0"/>
          </a:p>
        </p:txBody>
      </p:sp>
      <p:sp>
        <p:nvSpPr>
          <p:cNvPr id="93" name="Shape 23">
            <a:extLst>
              <a:ext uri="{FF2B5EF4-FFF2-40B4-BE49-F238E27FC236}">
                <a16:creationId xmlns:a16="http://schemas.microsoft.com/office/drawing/2014/main" id="{19919D28-C11F-E19F-0008-865A15652BEB}"/>
              </a:ext>
            </a:extLst>
          </p:cNvPr>
          <p:cNvSpPr/>
          <p:nvPr/>
        </p:nvSpPr>
        <p:spPr>
          <a:xfrm>
            <a:off x="7132320" y="1984248"/>
            <a:ext cx="1188720" cy="146304"/>
          </a:xfrm>
          <a:prstGeom prst="rect">
            <a:avLst/>
          </a:prstGeom>
          <a:solidFill>
            <a:srgbClr val="E2E8F0"/>
          </a:solidFill>
          <a:ln/>
        </p:spPr>
        <p:txBody>
          <a:bodyPr/>
          <a:lstStyle/>
          <a:p>
            <a:endParaRPr lang="en-US"/>
          </a:p>
        </p:txBody>
      </p:sp>
      <p:sp>
        <p:nvSpPr>
          <p:cNvPr id="94" name="Shape 24">
            <a:extLst>
              <a:ext uri="{FF2B5EF4-FFF2-40B4-BE49-F238E27FC236}">
                <a16:creationId xmlns:a16="http://schemas.microsoft.com/office/drawing/2014/main" id="{A3F8598F-AC5F-CC31-21A0-721A5B48DA19}"/>
              </a:ext>
            </a:extLst>
          </p:cNvPr>
          <p:cNvSpPr/>
          <p:nvPr/>
        </p:nvSpPr>
        <p:spPr>
          <a:xfrm>
            <a:off x="7132320" y="1984248"/>
            <a:ext cx="950976" cy="146304"/>
          </a:xfrm>
          <a:prstGeom prst="rect">
            <a:avLst/>
          </a:prstGeom>
          <a:solidFill>
            <a:srgbClr val="4A80C4"/>
          </a:solidFill>
          <a:ln/>
        </p:spPr>
        <p:txBody>
          <a:bodyPr/>
          <a:lstStyle/>
          <a:p>
            <a:endParaRPr lang="en-US"/>
          </a:p>
        </p:txBody>
      </p:sp>
      <p:sp>
        <p:nvSpPr>
          <p:cNvPr id="95" name="Text 25">
            <a:extLst>
              <a:ext uri="{FF2B5EF4-FFF2-40B4-BE49-F238E27FC236}">
                <a16:creationId xmlns:a16="http://schemas.microsoft.com/office/drawing/2014/main" id="{3FE17B72-ED46-26DF-356E-4E1AEE22B1D9}"/>
              </a:ext>
            </a:extLst>
          </p:cNvPr>
          <p:cNvSpPr/>
          <p:nvPr/>
        </p:nvSpPr>
        <p:spPr>
          <a:xfrm>
            <a:off x="8366760" y="1920240"/>
            <a:ext cx="457200" cy="274320"/>
          </a:xfrm>
          <a:prstGeom prst="rect">
            <a:avLst/>
          </a:prstGeom>
          <a:noFill/>
          <a:ln/>
        </p:spPr>
        <p:txBody>
          <a:bodyPr wrap="square" rtlCol="0" anchor="ctr"/>
          <a:lstStyle/>
          <a:p>
            <a:pPr marL="0" indent="0">
              <a:buNone/>
            </a:pPr>
            <a:r>
              <a:rPr lang="en-US" sz="900" b="1" dirty="0">
                <a:solidFill>
                  <a:srgbClr val="4A80C4"/>
                </a:solidFill>
              </a:rPr>
              <a:t>4.0</a:t>
            </a:r>
            <a:endParaRPr lang="en-US" sz="900" dirty="0"/>
          </a:p>
        </p:txBody>
      </p:sp>
      <p:sp>
        <p:nvSpPr>
          <p:cNvPr id="96" name="Text 26">
            <a:extLst>
              <a:ext uri="{FF2B5EF4-FFF2-40B4-BE49-F238E27FC236}">
                <a16:creationId xmlns:a16="http://schemas.microsoft.com/office/drawing/2014/main" id="{2F4FFA71-36A6-3F4E-9EDE-6B7A16AD86E1}"/>
              </a:ext>
            </a:extLst>
          </p:cNvPr>
          <p:cNvSpPr/>
          <p:nvPr/>
        </p:nvSpPr>
        <p:spPr>
          <a:xfrm>
            <a:off x="4754880" y="2331720"/>
            <a:ext cx="2377440" cy="274320"/>
          </a:xfrm>
          <a:prstGeom prst="rect">
            <a:avLst/>
          </a:prstGeom>
          <a:noFill/>
          <a:ln/>
        </p:spPr>
        <p:txBody>
          <a:bodyPr wrap="square" rtlCol="0" anchor="ctr"/>
          <a:lstStyle/>
          <a:p>
            <a:pPr marL="0" indent="0">
              <a:buNone/>
            </a:pPr>
            <a:r>
              <a:rPr lang="en-US" sz="1100" dirty="0">
                <a:solidFill>
                  <a:srgbClr val="4A5568"/>
                </a:solidFill>
              </a:rPr>
              <a:t>retry system reduced test anxiety</a:t>
            </a:r>
            <a:endParaRPr lang="en-US" sz="1100" dirty="0"/>
          </a:p>
        </p:txBody>
      </p:sp>
      <p:sp>
        <p:nvSpPr>
          <p:cNvPr id="97" name="Shape 27">
            <a:extLst>
              <a:ext uri="{FF2B5EF4-FFF2-40B4-BE49-F238E27FC236}">
                <a16:creationId xmlns:a16="http://schemas.microsoft.com/office/drawing/2014/main" id="{7E9016BE-F6E7-4279-3CED-6CF90FFFBFBE}"/>
              </a:ext>
            </a:extLst>
          </p:cNvPr>
          <p:cNvSpPr/>
          <p:nvPr/>
        </p:nvSpPr>
        <p:spPr>
          <a:xfrm>
            <a:off x="7132320" y="2395728"/>
            <a:ext cx="1188720" cy="146304"/>
          </a:xfrm>
          <a:prstGeom prst="rect">
            <a:avLst/>
          </a:prstGeom>
          <a:solidFill>
            <a:srgbClr val="E2E8F0"/>
          </a:solidFill>
          <a:ln/>
        </p:spPr>
        <p:txBody>
          <a:bodyPr/>
          <a:lstStyle/>
          <a:p>
            <a:endParaRPr lang="en-US"/>
          </a:p>
        </p:txBody>
      </p:sp>
      <p:sp>
        <p:nvSpPr>
          <p:cNvPr id="98" name="Shape 28">
            <a:extLst>
              <a:ext uri="{FF2B5EF4-FFF2-40B4-BE49-F238E27FC236}">
                <a16:creationId xmlns:a16="http://schemas.microsoft.com/office/drawing/2014/main" id="{71BE4486-6D1E-4B05-7E87-EC488AC876A3}"/>
              </a:ext>
            </a:extLst>
          </p:cNvPr>
          <p:cNvSpPr/>
          <p:nvPr/>
        </p:nvSpPr>
        <p:spPr>
          <a:xfrm>
            <a:off x="7132320" y="2395728"/>
            <a:ext cx="950976" cy="146304"/>
          </a:xfrm>
          <a:prstGeom prst="rect">
            <a:avLst/>
          </a:prstGeom>
          <a:solidFill>
            <a:srgbClr val="4A80C4"/>
          </a:solidFill>
          <a:ln/>
        </p:spPr>
        <p:txBody>
          <a:bodyPr/>
          <a:lstStyle/>
          <a:p>
            <a:endParaRPr lang="en-US"/>
          </a:p>
        </p:txBody>
      </p:sp>
      <p:sp>
        <p:nvSpPr>
          <p:cNvPr id="99" name="Text 29">
            <a:extLst>
              <a:ext uri="{FF2B5EF4-FFF2-40B4-BE49-F238E27FC236}">
                <a16:creationId xmlns:a16="http://schemas.microsoft.com/office/drawing/2014/main" id="{41BC5B40-3E34-1F8B-3D3C-4114BAD749DD}"/>
              </a:ext>
            </a:extLst>
          </p:cNvPr>
          <p:cNvSpPr/>
          <p:nvPr/>
        </p:nvSpPr>
        <p:spPr>
          <a:xfrm>
            <a:off x="8366760" y="2331720"/>
            <a:ext cx="457200" cy="274320"/>
          </a:xfrm>
          <a:prstGeom prst="rect">
            <a:avLst/>
          </a:prstGeom>
          <a:noFill/>
          <a:ln/>
        </p:spPr>
        <p:txBody>
          <a:bodyPr wrap="square" rtlCol="0" anchor="ctr"/>
          <a:lstStyle/>
          <a:p>
            <a:pPr marL="0" indent="0">
              <a:buNone/>
            </a:pPr>
            <a:r>
              <a:rPr lang="en-US" sz="900" b="1" dirty="0">
                <a:solidFill>
                  <a:srgbClr val="4A80C4"/>
                </a:solidFill>
              </a:rPr>
              <a:t>4.0</a:t>
            </a:r>
            <a:endParaRPr lang="en-US" sz="900" dirty="0"/>
          </a:p>
        </p:txBody>
      </p:sp>
      <p:sp>
        <p:nvSpPr>
          <p:cNvPr id="100" name="Shape 30">
            <a:extLst>
              <a:ext uri="{FF2B5EF4-FFF2-40B4-BE49-F238E27FC236}">
                <a16:creationId xmlns:a16="http://schemas.microsoft.com/office/drawing/2014/main" id="{DA53C769-C294-C868-6799-875370FA2FA0}"/>
              </a:ext>
            </a:extLst>
          </p:cNvPr>
          <p:cNvSpPr/>
          <p:nvPr/>
        </p:nvSpPr>
        <p:spPr>
          <a:xfrm>
            <a:off x="274320" y="2880360"/>
            <a:ext cx="4206240" cy="1965960"/>
          </a:xfrm>
          <a:prstGeom prst="rect">
            <a:avLst/>
          </a:prstGeom>
          <a:solidFill>
            <a:srgbClr val="F0F4F8"/>
          </a:solidFill>
          <a:ln/>
        </p:spPr>
        <p:txBody>
          <a:bodyPr/>
          <a:lstStyle/>
          <a:p>
            <a:endParaRPr lang="en-US"/>
          </a:p>
        </p:txBody>
      </p:sp>
      <p:sp>
        <p:nvSpPr>
          <p:cNvPr id="101" name="Text 31">
            <a:extLst>
              <a:ext uri="{FF2B5EF4-FFF2-40B4-BE49-F238E27FC236}">
                <a16:creationId xmlns:a16="http://schemas.microsoft.com/office/drawing/2014/main" id="{CC248505-6153-F451-F560-8961982110B8}"/>
              </a:ext>
            </a:extLst>
          </p:cNvPr>
          <p:cNvSpPr/>
          <p:nvPr/>
        </p:nvSpPr>
        <p:spPr>
          <a:xfrm>
            <a:off x="457200" y="2971800"/>
            <a:ext cx="2743200" cy="320040"/>
          </a:xfrm>
          <a:prstGeom prst="rect">
            <a:avLst/>
          </a:prstGeom>
          <a:noFill/>
          <a:ln/>
        </p:spPr>
        <p:txBody>
          <a:bodyPr wrap="square" rtlCol="0" anchor="ctr"/>
          <a:lstStyle/>
          <a:p>
            <a:pPr marL="0" indent="0">
              <a:buNone/>
            </a:pPr>
            <a:r>
              <a:rPr lang="en-US" sz="1000" b="1" dirty="0">
                <a:solidFill>
                  <a:srgbClr val="C08040"/>
                </a:solidFill>
              </a:rPr>
              <a:t>BEHAVIORAL CHANGE</a:t>
            </a:r>
            <a:endParaRPr lang="en-US" sz="1000" dirty="0"/>
          </a:p>
        </p:txBody>
      </p:sp>
      <p:sp>
        <p:nvSpPr>
          <p:cNvPr id="102" name="Text 32">
            <a:extLst>
              <a:ext uri="{FF2B5EF4-FFF2-40B4-BE49-F238E27FC236}">
                <a16:creationId xmlns:a16="http://schemas.microsoft.com/office/drawing/2014/main" id="{72F3AF4E-D12B-0E12-A18C-00915042BC7B}"/>
              </a:ext>
            </a:extLst>
          </p:cNvPr>
          <p:cNvSpPr/>
          <p:nvPr/>
        </p:nvSpPr>
        <p:spPr>
          <a:xfrm>
            <a:off x="457200" y="3337560"/>
            <a:ext cx="2377440" cy="274320"/>
          </a:xfrm>
          <a:prstGeom prst="rect">
            <a:avLst/>
          </a:prstGeom>
          <a:noFill/>
          <a:ln/>
        </p:spPr>
        <p:txBody>
          <a:bodyPr wrap="square" rtlCol="0" anchor="ctr"/>
          <a:lstStyle/>
          <a:p>
            <a:pPr marL="0" indent="0">
              <a:buNone/>
            </a:pPr>
            <a:r>
              <a:rPr lang="en-US" sz="1100" dirty="0">
                <a:solidFill>
                  <a:srgbClr val="4A5568"/>
                </a:solidFill>
              </a:rPr>
              <a:t>asked AI more clarifying questions</a:t>
            </a:r>
            <a:endParaRPr lang="en-US" sz="1100" dirty="0"/>
          </a:p>
        </p:txBody>
      </p:sp>
      <p:sp>
        <p:nvSpPr>
          <p:cNvPr id="103" name="Shape 33">
            <a:extLst>
              <a:ext uri="{FF2B5EF4-FFF2-40B4-BE49-F238E27FC236}">
                <a16:creationId xmlns:a16="http://schemas.microsoft.com/office/drawing/2014/main" id="{311295C2-3C02-5EE8-7E89-030A5FDF8498}"/>
              </a:ext>
            </a:extLst>
          </p:cNvPr>
          <p:cNvSpPr/>
          <p:nvPr/>
        </p:nvSpPr>
        <p:spPr>
          <a:xfrm>
            <a:off x="2834640" y="3401568"/>
            <a:ext cx="1188720" cy="146304"/>
          </a:xfrm>
          <a:prstGeom prst="rect">
            <a:avLst/>
          </a:prstGeom>
          <a:solidFill>
            <a:srgbClr val="E2E8F0"/>
          </a:solidFill>
          <a:ln/>
        </p:spPr>
        <p:txBody>
          <a:bodyPr/>
          <a:lstStyle/>
          <a:p>
            <a:endParaRPr lang="en-US"/>
          </a:p>
        </p:txBody>
      </p:sp>
      <p:sp>
        <p:nvSpPr>
          <p:cNvPr id="104" name="Shape 34">
            <a:extLst>
              <a:ext uri="{FF2B5EF4-FFF2-40B4-BE49-F238E27FC236}">
                <a16:creationId xmlns:a16="http://schemas.microsoft.com/office/drawing/2014/main" id="{6831781B-ED3E-276A-B290-F217F93A4F58}"/>
              </a:ext>
            </a:extLst>
          </p:cNvPr>
          <p:cNvSpPr/>
          <p:nvPr/>
        </p:nvSpPr>
        <p:spPr>
          <a:xfrm>
            <a:off x="2834640" y="3401568"/>
            <a:ext cx="981883" cy="146304"/>
          </a:xfrm>
          <a:prstGeom prst="rect">
            <a:avLst/>
          </a:prstGeom>
          <a:solidFill>
            <a:srgbClr val="C08040"/>
          </a:solidFill>
          <a:ln/>
        </p:spPr>
        <p:txBody>
          <a:bodyPr/>
          <a:lstStyle/>
          <a:p>
            <a:endParaRPr lang="en-US"/>
          </a:p>
        </p:txBody>
      </p:sp>
      <p:sp>
        <p:nvSpPr>
          <p:cNvPr id="105" name="Text 35">
            <a:extLst>
              <a:ext uri="{FF2B5EF4-FFF2-40B4-BE49-F238E27FC236}">
                <a16:creationId xmlns:a16="http://schemas.microsoft.com/office/drawing/2014/main" id="{ADEA0199-3CDE-9D84-F28F-C3733B1E263E}"/>
              </a:ext>
            </a:extLst>
          </p:cNvPr>
          <p:cNvSpPr/>
          <p:nvPr/>
        </p:nvSpPr>
        <p:spPr>
          <a:xfrm>
            <a:off x="4069080" y="3337560"/>
            <a:ext cx="457200" cy="274320"/>
          </a:xfrm>
          <a:prstGeom prst="rect">
            <a:avLst/>
          </a:prstGeom>
          <a:noFill/>
          <a:ln/>
        </p:spPr>
        <p:txBody>
          <a:bodyPr wrap="square" rtlCol="0" anchor="ctr"/>
          <a:lstStyle/>
          <a:p>
            <a:pPr marL="0" indent="0">
              <a:buNone/>
            </a:pPr>
            <a:r>
              <a:rPr lang="en-US" sz="900" b="1" dirty="0">
                <a:solidFill>
                  <a:srgbClr val="C08040"/>
                </a:solidFill>
              </a:rPr>
              <a:t>4.1</a:t>
            </a:r>
            <a:endParaRPr lang="en-US" sz="900" dirty="0"/>
          </a:p>
        </p:txBody>
      </p:sp>
      <p:sp>
        <p:nvSpPr>
          <p:cNvPr id="106" name="Text 36">
            <a:extLst>
              <a:ext uri="{FF2B5EF4-FFF2-40B4-BE49-F238E27FC236}">
                <a16:creationId xmlns:a16="http://schemas.microsoft.com/office/drawing/2014/main" id="{ECE92DE3-53D8-B9F0-8B55-18CA3CBCC460}"/>
              </a:ext>
            </a:extLst>
          </p:cNvPr>
          <p:cNvSpPr/>
          <p:nvPr/>
        </p:nvSpPr>
        <p:spPr>
          <a:xfrm>
            <a:off x="457200" y="3685032"/>
            <a:ext cx="2377440" cy="274320"/>
          </a:xfrm>
          <a:prstGeom prst="rect">
            <a:avLst/>
          </a:prstGeom>
          <a:noFill/>
          <a:ln/>
        </p:spPr>
        <p:txBody>
          <a:bodyPr wrap="square" rtlCol="0" anchor="ctr"/>
          <a:lstStyle/>
          <a:p>
            <a:pPr marL="0" indent="0">
              <a:buNone/>
            </a:pPr>
            <a:r>
              <a:rPr lang="en-US" sz="1100" dirty="0">
                <a:solidFill>
                  <a:srgbClr val="4A5568"/>
                </a:solidFill>
              </a:rPr>
              <a:t>spent more time understanding code</a:t>
            </a:r>
            <a:endParaRPr lang="en-US" sz="1100" dirty="0"/>
          </a:p>
        </p:txBody>
      </p:sp>
      <p:sp>
        <p:nvSpPr>
          <p:cNvPr id="107" name="Shape 37">
            <a:extLst>
              <a:ext uri="{FF2B5EF4-FFF2-40B4-BE49-F238E27FC236}">
                <a16:creationId xmlns:a16="http://schemas.microsoft.com/office/drawing/2014/main" id="{B23D8662-F607-CAA1-9D69-7121573D09DC}"/>
              </a:ext>
            </a:extLst>
          </p:cNvPr>
          <p:cNvSpPr/>
          <p:nvPr/>
        </p:nvSpPr>
        <p:spPr>
          <a:xfrm>
            <a:off x="2834640" y="3749040"/>
            <a:ext cx="1188720" cy="146304"/>
          </a:xfrm>
          <a:prstGeom prst="rect">
            <a:avLst/>
          </a:prstGeom>
          <a:solidFill>
            <a:srgbClr val="E2E8F0"/>
          </a:solidFill>
          <a:ln/>
        </p:spPr>
        <p:txBody>
          <a:bodyPr/>
          <a:lstStyle/>
          <a:p>
            <a:endParaRPr lang="en-US"/>
          </a:p>
        </p:txBody>
      </p:sp>
      <p:sp>
        <p:nvSpPr>
          <p:cNvPr id="108" name="Shape 38">
            <a:extLst>
              <a:ext uri="{FF2B5EF4-FFF2-40B4-BE49-F238E27FC236}">
                <a16:creationId xmlns:a16="http://schemas.microsoft.com/office/drawing/2014/main" id="{2DC45507-68CD-8C07-189A-9EEA644982F5}"/>
              </a:ext>
            </a:extLst>
          </p:cNvPr>
          <p:cNvSpPr/>
          <p:nvPr/>
        </p:nvSpPr>
        <p:spPr>
          <a:xfrm>
            <a:off x="2834640" y="3749040"/>
            <a:ext cx="922447" cy="146304"/>
          </a:xfrm>
          <a:prstGeom prst="rect">
            <a:avLst/>
          </a:prstGeom>
          <a:solidFill>
            <a:srgbClr val="C08040"/>
          </a:solidFill>
          <a:ln/>
        </p:spPr>
        <p:txBody>
          <a:bodyPr/>
          <a:lstStyle/>
          <a:p>
            <a:endParaRPr lang="en-US"/>
          </a:p>
        </p:txBody>
      </p:sp>
      <p:sp>
        <p:nvSpPr>
          <p:cNvPr id="109" name="Text 39">
            <a:extLst>
              <a:ext uri="{FF2B5EF4-FFF2-40B4-BE49-F238E27FC236}">
                <a16:creationId xmlns:a16="http://schemas.microsoft.com/office/drawing/2014/main" id="{6013C3BB-DA40-6179-7D71-EBBF523F0D44}"/>
              </a:ext>
            </a:extLst>
          </p:cNvPr>
          <p:cNvSpPr/>
          <p:nvPr/>
        </p:nvSpPr>
        <p:spPr>
          <a:xfrm>
            <a:off x="4069080" y="3685032"/>
            <a:ext cx="457200" cy="274320"/>
          </a:xfrm>
          <a:prstGeom prst="rect">
            <a:avLst/>
          </a:prstGeom>
          <a:noFill/>
          <a:ln/>
        </p:spPr>
        <p:txBody>
          <a:bodyPr wrap="square" rtlCol="0" anchor="ctr"/>
          <a:lstStyle/>
          <a:p>
            <a:pPr marL="0" indent="0">
              <a:buNone/>
            </a:pPr>
            <a:r>
              <a:rPr lang="en-US" sz="900" b="1" dirty="0">
                <a:solidFill>
                  <a:srgbClr val="C08040"/>
                </a:solidFill>
              </a:rPr>
              <a:t>3.9</a:t>
            </a:r>
            <a:endParaRPr lang="en-US" sz="900" dirty="0"/>
          </a:p>
        </p:txBody>
      </p:sp>
      <p:sp>
        <p:nvSpPr>
          <p:cNvPr id="110" name="Text 40">
            <a:extLst>
              <a:ext uri="{FF2B5EF4-FFF2-40B4-BE49-F238E27FC236}">
                <a16:creationId xmlns:a16="http://schemas.microsoft.com/office/drawing/2014/main" id="{890FA59A-EC9E-D0B5-C036-819A6E717C45}"/>
              </a:ext>
            </a:extLst>
          </p:cNvPr>
          <p:cNvSpPr/>
          <p:nvPr/>
        </p:nvSpPr>
        <p:spPr>
          <a:xfrm>
            <a:off x="457200" y="4032504"/>
            <a:ext cx="2377440" cy="274320"/>
          </a:xfrm>
          <a:prstGeom prst="rect">
            <a:avLst/>
          </a:prstGeom>
          <a:noFill/>
          <a:ln/>
        </p:spPr>
        <p:txBody>
          <a:bodyPr wrap="square" rtlCol="0" anchor="ctr"/>
          <a:lstStyle/>
          <a:p>
            <a:pPr marL="0" indent="0">
              <a:buNone/>
            </a:pPr>
            <a:r>
              <a:rPr lang="en-US" sz="1100" dirty="0">
                <a:solidFill>
                  <a:srgbClr val="4A5568"/>
                </a:solidFill>
              </a:rPr>
              <a:t>relied less on code I didn't understand</a:t>
            </a:r>
            <a:endParaRPr lang="en-US" sz="1100" dirty="0"/>
          </a:p>
        </p:txBody>
      </p:sp>
      <p:sp>
        <p:nvSpPr>
          <p:cNvPr id="111" name="Shape 41">
            <a:extLst>
              <a:ext uri="{FF2B5EF4-FFF2-40B4-BE49-F238E27FC236}">
                <a16:creationId xmlns:a16="http://schemas.microsoft.com/office/drawing/2014/main" id="{DA61B86A-D3A5-A585-9654-1107709DCAA8}"/>
              </a:ext>
            </a:extLst>
          </p:cNvPr>
          <p:cNvSpPr/>
          <p:nvPr/>
        </p:nvSpPr>
        <p:spPr>
          <a:xfrm>
            <a:off x="2834640" y="4096512"/>
            <a:ext cx="1188720" cy="146304"/>
          </a:xfrm>
          <a:prstGeom prst="rect">
            <a:avLst/>
          </a:prstGeom>
          <a:solidFill>
            <a:srgbClr val="E2E8F0"/>
          </a:solidFill>
          <a:ln/>
        </p:spPr>
        <p:txBody>
          <a:bodyPr/>
          <a:lstStyle/>
          <a:p>
            <a:endParaRPr lang="en-US"/>
          </a:p>
        </p:txBody>
      </p:sp>
      <p:sp>
        <p:nvSpPr>
          <p:cNvPr id="112" name="Shape 42">
            <a:extLst>
              <a:ext uri="{FF2B5EF4-FFF2-40B4-BE49-F238E27FC236}">
                <a16:creationId xmlns:a16="http://schemas.microsoft.com/office/drawing/2014/main" id="{8AC704C5-0CF0-FF80-7317-D84230BA2D6B}"/>
              </a:ext>
            </a:extLst>
          </p:cNvPr>
          <p:cNvSpPr/>
          <p:nvPr/>
        </p:nvSpPr>
        <p:spPr>
          <a:xfrm>
            <a:off x="2834640" y="4096512"/>
            <a:ext cx="905805" cy="146304"/>
          </a:xfrm>
          <a:prstGeom prst="rect">
            <a:avLst/>
          </a:prstGeom>
          <a:solidFill>
            <a:srgbClr val="C08040"/>
          </a:solidFill>
          <a:ln/>
        </p:spPr>
        <p:txBody>
          <a:bodyPr/>
          <a:lstStyle/>
          <a:p>
            <a:endParaRPr lang="en-US"/>
          </a:p>
        </p:txBody>
      </p:sp>
      <p:sp>
        <p:nvSpPr>
          <p:cNvPr id="113" name="Text 43">
            <a:extLst>
              <a:ext uri="{FF2B5EF4-FFF2-40B4-BE49-F238E27FC236}">
                <a16:creationId xmlns:a16="http://schemas.microsoft.com/office/drawing/2014/main" id="{14221F79-8902-52CB-9591-13B364341503}"/>
              </a:ext>
            </a:extLst>
          </p:cNvPr>
          <p:cNvSpPr/>
          <p:nvPr/>
        </p:nvSpPr>
        <p:spPr>
          <a:xfrm>
            <a:off x="4069080" y="4032504"/>
            <a:ext cx="457200" cy="274320"/>
          </a:xfrm>
          <a:prstGeom prst="rect">
            <a:avLst/>
          </a:prstGeom>
          <a:noFill/>
          <a:ln/>
        </p:spPr>
        <p:txBody>
          <a:bodyPr wrap="square" rtlCol="0" anchor="ctr"/>
          <a:lstStyle/>
          <a:p>
            <a:pPr marL="0" indent="0">
              <a:buNone/>
            </a:pPr>
            <a:r>
              <a:rPr lang="en-US" sz="900" b="1" dirty="0">
                <a:solidFill>
                  <a:srgbClr val="C08040"/>
                </a:solidFill>
              </a:rPr>
              <a:t>3.8</a:t>
            </a:r>
            <a:endParaRPr lang="en-US" sz="900" dirty="0"/>
          </a:p>
        </p:txBody>
      </p:sp>
      <p:sp>
        <p:nvSpPr>
          <p:cNvPr id="114" name="Text 44">
            <a:extLst>
              <a:ext uri="{FF2B5EF4-FFF2-40B4-BE49-F238E27FC236}">
                <a16:creationId xmlns:a16="http://schemas.microsoft.com/office/drawing/2014/main" id="{4B8DA8F2-E726-350F-9B33-4DE5D6541E0F}"/>
              </a:ext>
            </a:extLst>
          </p:cNvPr>
          <p:cNvSpPr/>
          <p:nvPr/>
        </p:nvSpPr>
        <p:spPr>
          <a:xfrm>
            <a:off x="457200" y="4379976"/>
            <a:ext cx="2377440" cy="274320"/>
          </a:xfrm>
          <a:prstGeom prst="rect">
            <a:avLst/>
          </a:prstGeom>
          <a:noFill/>
          <a:ln/>
        </p:spPr>
        <p:txBody>
          <a:bodyPr wrap="square" rtlCol="0" anchor="ctr"/>
          <a:lstStyle/>
          <a:p>
            <a:pPr marL="0" indent="0">
              <a:buNone/>
            </a:pPr>
            <a:r>
              <a:rPr lang="en-US" sz="1100" dirty="0">
                <a:solidFill>
                  <a:srgbClr val="4A5568"/>
                </a:solidFill>
              </a:rPr>
              <a:t>changed how I approached assignments</a:t>
            </a:r>
            <a:endParaRPr lang="en-US" sz="1100" dirty="0"/>
          </a:p>
        </p:txBody>
      </p:sp>
      <p:sp>
        <p:nvSpPr>
          <p:cNvPr id="115" name="Shape 45">
            <a:extLst>
              <a:ext uri="{FF2B5EF4-FFF2-40B4-BE49-F238E27FC236}">
                <a16:creationId xmlns:a16="http://schemas.microsoft.com/office/drawing/2014/main" id="{BBC2834B-4E1D-FFD3-FA3D-BC4FB88173EF}"/>
              </a:ext>
            </a:extLst>
          </p:cNvPr>
          <p:cNvSpPr/>
          <p:nvPr/>
        </p:nvSpPr>
        <p:spPr>
          <a:xfrm>
            <a:off x="2834640" y="4443984"/>
            <a:ext cx="1188720" cy="146304"/>
          </a:xfrm>
          <a:prstGeom prst="rect">
            <a:avLst/>
          </a:prstGeom>
          <a:solidFill>
            <a:srgbClr val="E2E8F0"/>
          </a:solidFill>
          <a:ln/>
        </p:spPr>
        <p:txBody>
          <a:bodyPr/>
          <a:lstStyle/>
          <a:p>
            <a:endParaRPr lang="en-US"/>
          </a:p>
        </p:txBody>
      </p:sp>
      <p:sp>
        <p:nvSpPr>
          <p:cNvPr id="116" name="Shape 46">
            <a:extLst>
              <a:ext uri="{FF2B5EF4-FFF2-40B4-BE49-F238E27FC236}">
                <a16:creationId xmlns:a16="http://schemas.microsoft.com/office/drawing/2014/main" id="{C9785C79-9B12-606D-CA37-FDF7261077E9}"/>
              </a:ext>
            </a:extLst>
          </p:cNvPr>
          <p:cNvSpPr/>
          <p:nvPr/>
        </p:nvSpPr>
        <p:spPr>
          <a:xfrm>
            <a:off x="2834640" y="4443984"/>
            <a:ext cx="772668" cy="146304"/>
          </a:xfrm>
          <a:prstGeom prst="rect">
            <a:avLst/>
          </a:prstGeom>
          <a:solidFill>
            <a:srgbClr val="C08040"/>
          </a:solidFill>
          <a:ln/>
        </p:spPr>
        <p:txBody>
          <a:bodyPr/>
          <a:lstStyle/>
          <a:p>
            <a:endParaRPr lang="en-US"/>
          </a:p>
        </p:txBody>
      </p:sp>
      <p:sp>
        <p:nvSpPr>
          <p:cNvPr id="117" name="Text 47">
            <a:extLst>
              <a:ext uri="{FF2B5EF4-FFF2-40B4-BE49-F238E27FC236}">
                <a16:creationId xmlns:a16="http://schemas.microsoft.com/office/drawing/2014/main" id="{5E42E4BC-7D5D-5B9E-1D49-E770FAEA083C}"/>
              </a:ext>
            </a:extLst>
          </p:cNvPr>
          <p:cNvSpPr/>
          <p:nvPr/>
        </p:nvSpPr>
        <p:spPr>
          <a:xfrm>
            <a:off x="4069080" y="4379976"/>
            <a:ext cx="457200" cy="274320"/>
          </a:xfrm>
          <a:prstGeom prst="rect">
            <a:avLst/>
          </a:prstGeom>
          <a:noFill/>
          <a:ln/>
        </p:spPr>
        <p:txBody>
          <a:bodyPr wrap="square" rtlCol="0" anchor="ctr"/>
          <a:lstStyle/>
          <a:p>
            <a:pPr marL="0" indent="0">
              <a:buNone/>
            </a:pPr>
            <a:r>
              <a:rPr lang="en-US" sz="900" b="1" dirty="0">
                <a:solidFill>
                  <a:srgbClr val="C08040"/>
                </a:solidFill>
              </a:rPr>
              <a:t>3.3</a:t>
            </a:r>
            <a:endParaRPr lang="en-US" sz="900" dirty="0"/>
          </a:p>
        </p:txBody>
      </p:sp>
      <p:sp>
        <p:nvSpPr>
          <p:cNvPr id="118" name="Shape 48">
            <a:extLst>
              <a:ext uri="{FF2B5EF4-FFF2-40B4-BE49-F238E27FC236}">
                <a16:creationId xmlns:a16="http://schemas.microsoft.com/office/drawing/2014/main" id="{7E5A1CE0-A275-6803-4495-C5F2BAC675F9}"/>
              </a:ext>
            </a:extLst>
          </p:cNvPr>
          <p:cNvSpPr/>
          <p:nvPr/>
        </p:nvSpPr>
        <p:spPr>
          <a:xfrm>
            <a:off x="4572000" y="2880360"/>
            <a:ext cx="4206240" cy="1737360"/>
          </a:xfrm>
          <a:prstGeom prst="rect">
            <a:avLst/>
          </a:prstGeom>
          <a:solidFill>
            <a:srgbClr val="F0F4F8"/>
          </a:solidFill>
          <a:ln/>
        </p:spPr>
        <p:txBody>
          <a:bodyPr/>
          <a:lstStyle/>
          <a:p>
            <a:endParaRPr lang="en-US"/>
          </a:p>
        </p:txBody>
      </p:sp>
      <p:sp>
        <p:nvSpPr>
          <p:cNvPr id="119" name="Text 49">
            <a:extLst>
              <a:ext uri="{FF2B5EF4-FFF2-40B4-BE49-F238E27FC236}">
                <a16:creationId xmlns:a16="http://schemas.microsoft.com/office/drawing/2014/main" id="{9C66F8A4-D04C-CA17-343A-51E8012BE527}"/>
              </a:ext>
            </a:extLst>
          </p:cNvPr>
          <p:cNvSpPr/>
          <p:nvPr/>
        </p:nvSpPr>
        <p:spPr>
          <a:xfrm>
            <a:off x="4754880" y="2971800"/>
            <a:ext cx="2743200" cy="320040"/>
          </a:xfrm>
          <a:prstGeom prst="rect">
            <a:avLst/>
          </a:prstGeom>
          <a:noFill/>
          <a:ln/>
        </p:spPr>
        <p:txBody>
          <a:bodyPr wrap="square" rtlCol="0" anchor="ctr"/>
          <a:lstStyle/>
          <a:p>
            <a:pPr marL="0" indent="0">
              <a:buNone/>
            </a:pPr>
            <a:r>
              <a:rPr lang="en-US" sz="1000" b="1" dirty="0">
                <a:solidFill>
                  <a:srgbClr val="D06070"/>
                </a:solidFill>
              </a:rPr>
              <a:t>AI EVALUATION TRUST</a:t>
            </a:r>
            <a:endParaRPr lang="en-US" sz="1000" dirty="0"/>
          </a:p>
        </p:txBody>
      </p:sp>
      <p:sp>
        <p:nvSpPr>
          <p:cNvPr id="120" name="Text 50">
            <a:extLst>
              <a:ext uri="{FF2B5EF4-FFF2-40B4-BE49-F238E27FC236}">
                <a16:creationId xmlns:a16="http://schemas.microsoft.com/office/drawing/2014/main" id="{598689A8-6A6A-D28C-D6BD-430150909177}"/>
              </a:ext>
            </a:extLst>
          </p:cNvPr>
          <p:cNvSpPr/>
          <p:nvPr/>
        </p:nvSpPr>
        <p:spPr>
          <a:xfrm>
            <a:off x="4754880" y="3337560"/>
            <a:ext cx="2377440" cy="274320"/>
          </a:xfrm>
          <a:prstGeom prst="rect">
            <a:avLst/>
          </a:prstGeom>
          <a:noFill/>
          <a:ln/>
        </p:spPr>
        <p:txBody>
          <a:bodyPr wrap="square" rtlCol="0" anchor="ctr"/>
          <a:lstStyle/>
          <a:p>
            <a:pPr marL="0" indent="0">
              <a:buNone/>
            </a:pPr>
            <a:r>
              <a:rPr lang="en-US" sz="1100" dirty="0">
                <a:solidFill>
                  <a:srgbClr val="4A5568"/>
                </a:solidFill>
              </a:rPr>
              <a:t>evaluation was fair and accurate</a:t>
            </a:r>
            <a:endParaRPr lang="en-US" sz="1100" dirty="0"/>
          </a:p>
        </p:txBody>
      </p:sp>
      <p:sp>
        <p:nvSpPr>
          <p:cNvPr id="121" name="Shape 51">
            <a:extLst>
              <a:ext uri="{FF2B5EF4-FFF2-40B4-BE49-F238E27FC236}">
                <a16:creationId xmlns:a16="http://schemas.microsoft.com/office/drawing/2014/main" id="{5143E943-8738-0BB3-A350-2DA9509DEEF7}"/>
              </a:ext>
            </a:extLst>
          </p:cNvPr>
          <p:cNvSpPr/>
          <p:nvPr/>
        </p:nvSpPr>
        <p:spPr>
          <a:xfrm>
            <a:off x="7132320" y="3401568"/>
            <a:ext cx="1188720" cy="146304"/>
          </a:xfrm>
          <a:prstGeom prst="rect">
            <a:avLst/>
          </a:prstGeom>
          <a:solidFill>
            <a:srgbClr val="E2E8F0"/>
          </a:solidFill>
          <a:ln/>
        </p:spPr>
        <p:txBody>
          <a:bodyPr/>
          <a:lstStyle/>
          <a:p>
            <a:endParaRPr lang="en-US"/>
          </a:p>
        </p:txBody>
      </p:sp>
      <p:sp>
        <p:nvSpPr>
          <p:cNvPr id="122" name="Shape 52">
            <a:extLst>
              <a:ext uri="{FF2B5EF4-FFF2-40B4-BE49-F238E27FC236}">
                <a16:creationId xmlns:a16="http://schemas.microsoft.com/office/drawing/2014/main" id="{426A8CB1-1BB7-D06E-2713-756CCCE2B37D}"/>
              </a:ext>
            </a:extLst>
          </p:cNvPr>
          <p:cNvSpPr/>
          <p:nvPr/>
        </p:nvSpPr>
        <p:spPr>
          <a:xfrm>
            <a:off x="7132320" y="3401568"/>
            <a:ext cx="950976" cy="146304"/>
          </a:xfrm>
          <a:prstGeom prst="rect">
            <a:avLst/>
          </a:prstGeom>
          <a:solidFill>
            <a:srgbClr val="D06070"/>
          </a:solidFill>
          <a:ln/>
        </p:spPr>
        <p:txBody>
          <a:bodyPr/>
          <a:lstStyle/>
          <a:p>
            <a:endParaRPr lang="en-US"/>
          </a:p>
        </p:txBody>
      </p:sp>
      <p:sp>
        <p:nvSpPr>
          <p:cNvPr id="123" name="Text 53">
            <a:extLst>
              <a:ext uri="{FF2B5EF4-FFF2-40B4-BE49-F238E27FC236}">
                <a16:creationId xmlns:a16="http://schemas.microsoft.com/office/drawing/2014/main" id="{76AE58D1-E8E6-C378-98F4-B87D795C5342}"/>
              </a:ext>
            </a:extLst>
          </p:cNvPr>
          <p:cNvSpPr/>
          <p:nvPr/>
        </p:nvSpPr>
        <p:spPr>
          <a:xfrm>
            <a:off x="8366760" y="3337560"/>
            <a:ext cx="457200" cy="274320"/>
          </a:xfrm>
          <a:prstGeom prst="rect">
            <a:avLst/>
          </a:prstGeom>
          <a:noFill/>
          <a:ln/>
        </p:spPr>
        <p:txBody>
          <a:bodyPr wrap="square" rtlCol="0" anchor="ctr"/>
          <a:lstStyle/>
          <a:p>
            <a:pPr marL="0" indent="0">
              <a:buNone/>
            </a:pPr>
            <a:r>
              <a:rPr lang="en-US" sz="900" b="1" dirty="0">
                <a:solidFill>
                  <a:srgbClr val="D06070"/>
                </a:solidFill>
              </a:rPr>
              <a:t>4.0</a:t>
            </a:r>
            <a:endParaRPr lang="en-US" sz="900" dirty="0"/>
          </a:p>
        </p:txBody>
      </p:sp>
      <p:sp>
        <p:nvSpPr>
          <p:cNvPr id="124" name="Text 54">
            <a:extLst>
              <a:ext uri="{FF2B5EF4-FFF2-40B4-BE49-F238E27FC236}">
                <a16:creationId xmlns:a16="http://schemas.microsoft.com/office/drawing/2014/main" id="{0B976DFE-9FDD-4A8B-D85D-6DD826ACACB2}"/>
              </a:ext>
            </a:extLst>
          </p:cNvPr>
          <p:cNvSpPr/>
          <p:nvPr/>
        </p:nvSpPr>
        <p:spPr>
          <a:xfrm>
            <a:off x="4754880" y="3749040"/>
            <a:ext cx="2377440" cy="274320"/>
          </a:xfrm>
          <a:prstGeom prst="rect">
            <a:avLst/>
          </a:prstGeom>
          <a:noFill/>
          <a:ln/>
        </p:spPr>
        <p:txBody>
          <a:bodyPr wrap="square" rtlCol="0" anchor="ctr"/>
          <a:lstStyle/>
          <a:p>
            <a:pPr marL="0" indent="0">
              <a:buNone/>
            </a:pPr>
            <a:r>
              <a:rPr lang="en-US" sz="1100" dirty="0">
                <a:solidFill>
                  <a:srgbClr val="4A5568"/>
                </a:solidFill>
              </a:rPr>
              <a:t>understood imprecise terminology</a:t>
            </a:r>
            <a:endParaRPr lang="en-US" sz="1100" dirty="0"/>
          </a:p>
        </p:txBody>
      </p:sp>
      <p:sp>
        <p:nvSpPr>
          <p:cNvPr id="125" name="Shape 55">
            <a:extLst>
              <a:ext uri="{FF2B5EF4-FFF2-40B4-BE49-F238E27FC236}">
                <a16:creationId xmlns:a16="http://schemas.microsoft.com/office/drawing/2014/main" id="{EB4D4989-D4F5-C972-6214-32275487464A}"/>
              </a:ext>
            </a:extLst>
          </p:cNvPr>
          <p:cNvSpPr/>
          <p:nvPr/>
        </p:nvSpPr>
        <p:spPr>
          <a:xfrm>
            <a:off x="7132320" y="3813048"/>
            <a:ext cx="1188720" cy="146304"/>
          </a:xfrm>
          <a:prstGeom prst="rect">
            <a:avLst/>
          </a:prstGeom>
          <a:solidFill>
            <a:srgbClr val="E2E8F0"/>
          </a:solidFill>
          <a:ln/>
        </p:spPr>
        <p:txBody>
          <a:bodyPr/>
          <a:lstStyle/>
          <a:p>
            <a:endParaRPr lang="en-US"/>
          </a:p>
        </p:txBody>
      </p:sp>
      <p:sp>
        <p:nvSpPr>
          <p:cNvPr id="126" name="Shape 56">
            <a:extLst>
              <a:ext uri="{FF2B5EF4-FFF2-40B4-BE49-F238E27FC236}">
                <a16:creationId xmlns:a16="http://schemas.microsoft.com/office/drawing/2014/main" id="{3BE9B29D-8D8F-FD5C-006E-5CE93A26F259}"/>
              </a:ext>
            </a:extLst>
          </p:cNvPr>
          <p:cNvSpPr/>
          <p:nvPr/>
        </p:nvSpPr>
        <p:spPr>
          <a:xfrm>
            <a:off x="7132320" y="3813048"/>
            <a:ext cx="891540" cy="146304"/>
          </a:xfrm>
          <a:prstGeom prst="rect">
            <a:avLst/>
          </a:prstGeom>
          <a:solidFill>
            <a:srgbClr val="D06070"/>
          </a:solidFill>
          <a:ln/>
        </p:spPr>
        <p:txBody>
          <a:bodyPr/>
          <a:lstStyle/>
          <a:p>
            <a:endParaRPr lang="en-US"/>
          </a:p>
        </p:txBody>
      </p:sp>
      <p:sp>
        <p:nvSpPr>
          <p:cNvPr id="127" name="Text 57">
            <a:extLst>
              <a:ext uri="{FF2B5EF4-FFF2-40B4-BE49-F238E27FC236}">
                <a16:creationId xmlns:a16="http://schemas.microsoft.com/office/drawing/2014/main" id="{267720EB-E1D1-D5F7-9C51-17130A77393F}"/>
              </a:ext>
            </a:extLst>
          </p:cNvPr>
          <p:cNvSpPr/>
          <p:nvPr/>
        </p:nvSpPr>
        <p:spPr>
          <a:xfrm>
            <a:off x="8366760" y="3749040"/>
            <a:ext cx="457200" cy="274320"/>
          </a:xfrm>
          <a:prstGeom prst="rect">
            <a:avLst/>
          </a:prstGeom>
          <a:noFill/>
          <a:ln/>
        </p:spPr>
        <p:txBody>
          <a:bodyPr wrap="square" rtlCol="0" anchor="ctr"/>
          <a:lstStyle/>
          <a:p>
            <a:pPr marL="0" indent="0">
              <a:buNone/>
            </a:pPr>
            <a:r>
              <a:rPr lang="en-US" sz="900" b="1" dirty="0">
                <a:solidFill>
                  <a:srgbClr val="D06070"/>
                </a:solidFill>
              </a:rPr>
              <a:t>3.8</a:t>
            </a:r>
            <a:endParaRPr lang="en-US" sz="900" dirty="0"/>
          </a:p>
        </p:txBody>
      </p:sp>
      <p:sp>
        <p:nvSpPr>
          <p:cNvPr id="128" name="Text 58">
            <a:extLst>
              <a:ext uri="{FF2B5EF4-FFF2-40B4-BE49-F238E27FC236}">
                <a16:creationId xmlns:a16="http://schemas.microsoft.com/office/drawing/2014/main" id="{E6162CA4-C391-C2F4-DAA8-7189766E424D}"/>
              </a:ext>
            </a:extLst>
          </p:cNvPr>
          <p:cNvSpPr/>
          <p:nvPr/>
        </p:nvSpPr>
        <p:spPr>
          <a:xfrm>
            <a:off x="4754880" y="4160520"/>
            <a:ext cx="2377440" cy="274320"/>
          </a:xfrm>
          <a:prstGeom prst="rect">
            <a:avLst/>
          </a:prstGeom>
          <a:noFill/>
          <a:ln/>
        </p:spPr>
        <p:txBody>
          <a:bodyPr wrap="square" rtlCol="0" anchor="ctr"/>
          <a:lstStyle/>
          <a:p>
            <a:pPr marL="0" indent="0">
              <a:buNone/>
            </a:pPr>
            <a:r>
              <a:rPr lang="en-US" sz="1100" dirty="0">
                <a:solidFill>
                  <a:srgbClr val="4A5568"/>
                </a:solidFill>
              </a:rPr>
              <a:t>trust AI as well as human instructor</a:t>
            </a:r>
            <a:endParaRPr lang="en-US" sz="1100" dirty="0"/>
          </a:p>
        </p:txBody>
      </p:sp>
      <p:sp>
        <p:nvSpPr>
          <p:cNvPr id="129" name="Shape 59">
            <a:extLst>
              <a:ext uri="{FF2B5EF4-FFF2-40B4-BE49-F238E27FC236}">
                <a16:creationId xmlns:a16="http://schemas.microsoft.com/office/drawing/2014/main" id="{FF3D7005-6EAC-745C-A059-5C522CF3A67B}"/>
              </a:ext>
            </a:extLst>
          </p:cNvPr>
          <p:cNvSpPr/>
          <p:nvPr/>
        </p:nvSpPr>
        <p:spPr>
          <a:xfrm>
            <a:off x="7132320" y="4224528"/>
            <a:ext cx="1188720" cy="146304"/>
          </a:xfrm>
          <a:prstGeom prst="rect">
            <a:avLst/>
          </a:prstGeom>
          <a:solidFill>
            <a:srgbClr val="E2E8F0"/>
          </a:solidFill>
          <a:ln/>
        </p:spPr>
        <p:txBody>
          <a:bodyPr/>
          <a:lstStyle/>
          <a:p>
            <a:endParaRPr lang="en-US"/>
          </a:p>
        </p:txBody>
      </p:sp>
      <p:sp>
        <p:nvSpPr>
          <p:cNvPr id="130" name="Shape 60">
            <a:extLst>
              <a:ext uri="{FF2B5EF4-FFF2-40B4-BE49-F238E27FC236}">
                <a16:creationId xmlns:a16="http://schemas.microsoft.com/office/drawing/2014/main" id="{CC637508-1F3E-D633-AA45-138222FFEC7F}"/>
              </a:ext>
            </a:extLst>
          </p:cNvPr>
          <p:cNvSpPr/>
          <p:nvPr/>
        </p:nvSpPr>
        <p:spPr>
          <a:xfrm>
            <a:off x="7132320" y="4224528"/>
            <a:ext cx="758403" cy="146304"/>
          </a:xfrm>
          <a:prstGeom prst="rect">
            <a:avLst/>
          </a:prstGeom>
          <a:solidFill>
            <a:srgbClr val="D06070"/>
          </a:solidFill>
          <a:ln/>
        </p:spPr>
        <p:txBody>
          <a:bodyPr/>
          <a:lstStyle/>
          <a:p>
            <a:endParaRPr lang="en-US"/>
          </a:p>
        </p:txBody>
      </p:sp>
      <p:sp>
        <p:nvSpPr>
          <p:cNvPr id="131" name="Text 61">
            <a:extLst>
              <a:ext uri="{FF2B5EF4-FFF2-40B4-BE49-F238E27FC236}">
                <a16:creationId xmlns:a16="http://schemas.microsoft.com/office/drawing/2014/main" id="{E5FD1B49-7798-E50B-A0EA-08E33487AA94}"/>
              </a:ext>
            </a:extLst>
          </p:cNvPr>
          <p:cNvSpPr/>
          <p:nvPr/>
        </p:nvSpPr>
        <p:spPr>
          <a:xfrm>
            <a:off x="8366760" y="4160520"/>
            <a:ext cx="457200" cy="274320"/>
          </a:xfrm>
          <a:prstGeom prst="rect">
            <a:avLst/>
          </a:prstGeom>
          <a:noFill/>
          <a:ln/>
        </p:spPr>
        <p:txBody>
          <a:bodyPr wrap="square" rtlCol="0" anchor="ctr"/>
          <a:lstStyle/>
          <a:p>
            <a:pPr marL="0" indent="0">
              <a:buNone/>
            </a:pPr>
            <a:r>
              <a:rPr lang="en-US" sz="900" b="1" dirty="0">
                <a:solidFill>
                  <a:srgbClr val="D06070"/>
                </a:solidFill>
              </a:rPr>
              <a:t>3.2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nvSpPr>
        <p:spPr>
          <a:xfrm>
            <a:off x="731520" y="274320"/>
            <a:ext cx="7680960" cy="548640"/>
          </a:xfrm>
          <a:prstGeom prst="rect">
            <a:avLst/>
          </a:prstGeom>
          <a:noFill/>
          <a:ln/>
        </p:spPr>
        <p:txBody>
          <a:bodyPr wrap="square" rtlCol="0" anchor="ctr"/>
          <a:lstStyle/>
          <a:p>
            <a:pPr marL="0" indent="0">
              <a:buNone/>
            </a:pPr>
            <a:r>
              <a:rPr lang="en-US" sz="2800" b="1" dirty="0">
                <a:solidFill>
                  <a:srgbClr val="2D3748"/>
                </a:solidFill>
              </a:rPr>
              <a:t>What It Looks Like</a:t>
            </a:r>
            <a:endParaRPr lang="en-US" sz="2800" dirty="0"/>
          </a:p>
        </p:txBody>
      </p:sp>
      <p:sp>
        <p:nvSpPr>
          <p:cNvPr id="4" name="Text 1"/>
          <p:cNvSpPr/>
          <p:nvPr/>
        </p:nvSpPr>
        <p:spPr>
          <a:xfrm>
            <a:off x="731520" y="777240"/>
            <a:ext cx="7680960" cy="274320"/>
          </a:xfrm>
          <a:prstGeom prst="rect">
            <a:avLst/>
          </a:prstGeom>
          <a:noFill/>
          <a:ln/>
        </p:spPr>
        <p:txBody>
          <a:bodyPr wrap="square" rtlCol="0" anchor="ctr"/>
          <a:lstStyle/>
          <a:p>
            <a:pPr marL="0" indent="0">
              <a:buNone/>
            </a:pPr>
            <a:r>
              <a:rPr lang="en-US" sz="1200" i="1" dirty="0">
                <a:solidFill>
                  <a:srgbClr val="718096"/>
                </a:solidFill>
              </a:rPr>
              <a:t>Real exchanges from a quiz last week</a:t>
            </a:r>
            <a:endParaRPr lang="en-US" sz="1200" dirty="0"/>
          </a:p>
        </p:txBody>
      </p:sp>
      <p:sp>
        <p:nvSpPr>
          <p:cNvPr id="5" name="Shape 2"/>
          <p:cNvSpPr/>
          <p:nvPr/>
        </p:nvSpPr>
        <p:spPr>
          <a:xfrm>
            <a:off x="457200" y="1143000"/>
            <a:ext cx="6858000" cy="566928"/>
          </a:xfrm>
          <a:prstGeom prst="rect">
            <a:avLst/>
          </a:prstGeom>
          <a:solidFill>
            <a:srgbClr val="EFF6FF"/>
          </a:solidFill>
          <a:ln/>
        </p:spPr>
        <p:txBody>
          <a:bodyPr/>
          <a:lstStyle/>
          <a:p>
            <a:endParaRPr lang="en-US"/>
          </a:p>
        </p:txBody>
      </p:sp>
      <p:sp>
        <p:nvSpPr>
          <p:cNvPr id="6" name="Text 3"/>
          <p:cNvSpPr/>
          <p:nvPr/>
        </p:nvSpPr>
        <p:spPr>
          <a:xfrm>
            <a:off x="594360" y="1170432"/>
            <a:ext cx="1371600" cy="182880"/>
          </a:xfrm>
          <a:prstGeom prst="rect">
            <a:avLst/>
          </a:prstGeom>
          <a:noFill/>
          <a:ln/>
        </p:spPr>
        <p:txBody>
          <a:bodyPr wrap="square" rtlCol="0" anchor="ctr"/>
          <a:lstStyle/>
          <a:p>
            <a:pPr marL="0" indent="0">
              <a:buNone/>
            </a:pPr>
            <a:r>
              <a:rPr lang="en-US" sz="800" b="1" dirty="0">
                <a:solidFill>
                  <a:srgbClr val="4A80C4"/>
                </a:solidFill>
              </a:rPr>
              <a:t>AI Examiner</a:t>
            </a:r>
            <a:endParaRPr lang="en-US" sz="800" dirty="0"/>
          </a:p>
        </p:txBody>
      </p:sp>
      <p:sp>
        <p:nvSpPr>
          <p:cNvPr id="7" name="Text 4"/>
          <p:cNvSpPr/>
          <p:nvPr/>
        </p:nvSpPr>
        <p:spPr>
          <a:xfrm>
            <a:off x="594360" y="1325880"/>
            <a:ext cx="6583680" cy="338328"/>
          </a:xfrm>
          <a:prstGeom prst="rect">
            <a:avLst/>
          </a:prstGeom>
          <a:noFill/>
          <a:ln/>
        </p:spPr>
        <p:txBody>
          <a:bodyPr wrap="square" rtlCol="0" anchor="t"/>
          <a:lstStyle/>
          <a:p>
            <a:pPr marL="0" indent="0">
              <a:buNone/>
            </a:pPr>
            <a:r>
              <a:rPr lang="en-US" sz="950" dirty="0">
                <a:solidFill>
                  <a:srgbClr val="4A5568"/>
                </a:solidFill>
              </a:rPr>
              <a:t>You use useRef to store drag data like isDragging and startX. Why useRef instead of useState?</a:t>
            </a:r>
            <a:endParaRPr lang="en-US" sz="950" dirty="0"/>
          </a:p>
        </p:txBody>
      </p:sp>
      <p:sp>
        <p:nvSpPr>
          <p:cNvPr id="8" name="Shape 5"/>
          <p:cNvSpPr/>
          <p:nvPr/>
        </p:nvSpPr>
        <p:spPr>
          <a:xfrm>
            <a:off x="1828800" y="1783080"/>
            <a:ext cx="6858000" cy="566928"/>
          </a:xfrm>
          <a:prstGeom prst="rect">
            <a:avLst/>
          </a:prstGeom>
          <a:solidFill>
            <a:srgbClr val="FEF2F2"/>
          </a:solidFill>
          <a:ln/>
        </p:spPr>
        <p:txBody>
          <a:bodyPr/>
          <a:lstStyle/>
          <a:p>
            <a:endParaRPr lang="en-US"/>
          </a:p>
        </p:txBody>
      </p:sp>
      <p:sp>
        <p:nvSpPr>
          <p:cNvPr id="9" name="Text 6"/>
          <p:cNvSpPr/>
          <p:nvPr/>
        </p:nvSpPr>
        <p:spPr>
          <a:xfrm>
            <a:off x="1965960" y="1810512"/>
            <a:ext cx="1371600" cy="182880"/>
          </a:xfrm>
          <a:prstGeom prst="rect">
            <a:avLst/>
          </a:prstGeom>
          <a:noFill/>
          <a:ln/>
        </p:spPr>
        <p:txBody>
          <a:bodyPr wrap="square" rtlCol="0" anchor="ctr"/>
          <a:lstStyle/>
          <a:p>
            <a:pPr marL="0" indent="0">
              <a:buNone/>
            </a:pPr>
            <a:r>
              <a:rPr lang="en-US" sz="800" b="1" dirty="0">
                <a:solidFill>
                  <a:srgbClr val="D06070"/>
                </a:solidFill>
              </a:rPr>
              <a:t>Student</a:t>
            </a:r>
            <a:endParaRPr lang="en-US" sz="800" dirty="0"/>
          </a:p>
        </p:txBody>
      </p:sp>
      <p:sp>
        <p:nvSpPr>
          <p:cNvPr id="10" name="Text 7"/>
          <p:cNvSpPr/>
          <p:nvPr/>
        </p:nvSpPr>
        <p:spPr>
          <a:xfrm>
            <a:off x="1965960" y="1965960"/>
            <a:ext cx="6583680" cy="338328"/>
          </a:xfrm>
          <a:prstGeom prst="rect">
            <a:avLst/>
          </a:prstGeom>
          <a:noFill/>
          <a:ln/>
        </p:spPr>
        <p:txBody>
          <a:bodyPr wrap="square" rtlCol="0" anchor="t"/>
          <a:lstStyle/>
          <a:p>
            <a:pPr marL="0" indent="0">
              <a:buNone/>
            </a:pPr>
            <a:r>
              <a:rPr lang="en-US" sz="950" dirty="0">
                <a:solidFill>
                  <a:srgbClr val="4A5568"/>
                </a:solidFill>
              </a:rPr>
              <a:t>useRef is faster and components can be referenced quicker with .current compared to useState which is slower</a:t>
            </a:r>
            <a:endParaRPr lang="en-US" sz="950" dirty="0"/>
          </a:p>
        </p:txBody>
      </p:sp>
      <p:sp>
        <p:nvSpPr>
          <p:cNvPr id="11" name="Shape 8"/>
          <p:cNvSpPr/>
          <p:nvPr/>
        </p:nvSpPr>
        <p:spPr>
          <a:xfrm>
            <a:off x="457200" y="2423160"/>
            <a:ext cx="6858000" cy="566928"/>
          </a:xfrm>
          <a:prstGeom prst="rect">
            <a:avLst/>
          </a:prstGeom>
          <a:solidFill>
            <a:srgbClr val="EFF6FF"/>
          </a:solidFill>
          <a:ln/>
        </p:spPr>
        <p:txBody>
          <a:bodyPr/>
          <a:lstStyle/>
          <a:p>
            <a:endParaRPr lang="en-US"/>
          </a:p>
        </p:txBody>
      </p:sp>
      <p:sp>
        <p:nvSpPr>
          <p:cNvPr id="12" name="Text 9"/>
          <p:cNvSpPr/>
          <p:nvPr/>
        </p:nvSpPr>
        <p:spPr>
          <a:xfrm>
            <a:off x="594360" y="2450592"/>
            <a:ext cx="1371600" cy="182880"/>
          </a:xfrm>
          <a:prstGeom prst="rect">
            <a:avLst/>
          </a:prstGeom>
          <a:noFill/>
          <a:ln/>
        </p:spPr>
        <p:txBody>
          <a:bodyPr wrap="square" rtlCol="0" anchor="ctr"/>
          <a:lstStyle/>
          <a:p>
            <a:pPr marL="0" indent="0">
              <a:buNone/>
            </a:pPr>
            <a:r>
              <a:rPr lang="en-US" sz="800" b="1" dirty="0">
                <a:solidFill>
                  <a:srgbClr val="4A80C4"/>
                </a:solidFill>
              </a:rPr>
              <a:t>AI Examiner</a:t>
            </a:r>
            <a:endParaRPr lang="en-US" sz="800" dirty="0"/>
          </a:p>
        </p:txBody>
      </p:sp>
      <p:sp>
        <p:nvSpPr>
          <p:cNvPr id="13" name="Text 10"/>
          <p:cNvSpPr/>
          <p:nvPr/>
        </p:nvSpPr>
        <p:spPr>
          <a:xfrm>
            <a:off x="594360" y="2606040"/>
            <a:ext cx="6583680" cy="338328"/>
          </a:xfrm>
          <a:prstGeom prst="rect">
            <a:avLst/>
          </a:prstGeom>
          <a:noFill/>
          <a:ln/>
        </p:spPr>
        <p:txBody>
          <a:bodyPr wrap="square" rtlCol="0" anchor="t"/>
          <a:lstStyle/>
          <a:p>
            <a:pPr marL="0" indent="0">
              <a:buNone/>
            </a:pPr>
            <a:r>
              <a:rPr lang="en-US" sz="950" dirty="0">
                <a:solidFill>
                  <a:srgbClr val="4A5568"/>
                </a:solidFill>
              </a:rPr>
              <a:t>💡 Hint: When you call setState, it triggers a re-render. During a drag, mousemove fires dozens of times per second...</a:t>
            </a:r>
            <a:endParaRPr lang="en-US" sz="950" dirty="0"/>
          </a:p>
        </p:txBody>
      </p:sp>
      <p:sp>
        <p:nvSpPr>
          <p:cNvPr id="14" name="Shape 11"/>
          <p:cNvSpPr/>
          <p:nvPr/>
        </p:nvSpPr>
        <p:spPr>
          <a:xfrm>
            <a:off x="1828800" y="3063240"/>
            <a:ext cx="6858000" cy="566928"/>
          </a:xfrm>
          <a:prstGeom prst="rect">
            <a:avLst/>
          </a:prstGeom>
          <a:solidFill>
            <a:srgbClr val="E6F4EA"/>
          </a:solidFill>
          <a:ln/>
        </p:spPr>
        <p:txBody>
          <a:bodyPr/>
          <a:lstStyle/>
          <a:p>
            <a:endParaRPr lang="en-US"/>
          </a:p>
        </p:txBody>
      </p:sp>
      <p:sp>
        <p:nvSpPr>
          <p:cNvPr id="15" name="Text 12"/>
          <p:cNvSpPr/>
          <p:nvPr/>
        </p:nvSpPr>
        <p:spPr>
          <a:xfrm>
            <a:off x="1965960" y="3090672"/>
            <a:ext cx="1371600" cy="182880"/>
          </a:xfrm>
          <a:prstGeom prst="rect">
            <a:avLst/>
          </a:prstGeom>
          <a:noFill/>
          <a:ln/>
        </p:spPr>
        <p:txBody>
          <a:bodyPr wrap="square" rtlCol="0" anchor="ctr"/>
          <a:lstStyle/>
          <a:p>
            <a:pPr marL="0" indent="0">
              <a:buNone/>
            </a:pPr>
            <a:r>
              <a:rPr lang="en-US" sz="800" b="1" dirty="0">
                <a:solidFill>
                  <a:srgbClr val="2D8A4E"/>
                </a:solidFill>
              </a:rPr>
              <a:t>Student</a:t>
            </a:r>
            <a:endParaRPr lang="en-US" sz="800" dirty="0"/>
          </a:p>
        </p:txBody>
      </p:sp>
      <p:sp>
        <p:nvSpPr>
          <p:cNvPr id="16" name="Text 13"/>
          <p:cNvSpPr/>
          <p:nvPr/>
        </p:nvSpPr>
        <p:spPr>
          <a:xfrm>
            <a:off x="1965960" y="3246120"/>
            <a:ext cx="6583680" cy="338328"/>
          </a:xfrm>
          <a:prstGeom prst="rect">
            <a:avLst/>
          </a:prstGeom>
          <a:noFill/>
          <a:ln/>
        </p:spPr>
        <p:txBody>
          <a:bodyPr wrap="square" rtlCol="0" anchor="t"/>
          <a:lstStyle/>
          <a:p>
            <a:pPr marL="0" indent="0">
              <a:buNone/>
            </a:pPr>
            <a:r>
              <a:rPr lang="en-US" sz="950" dirty="0" err="1">
                <a:solidFill>
                  <a:srgbClr val="4A5568"/>
                </a:solidFill>
              </a:rPr>
              <a:t>tf</a:t>
            </a:r>
            <a:r>
              <a:rPr lang="en-US" sz="950" dirty="0">
                <a:solidFill>
                  <a:srgbClr val="4A5568"/>
                </a:solidFill>
              </a:rPr>
              <a:t> you have to re-render every time the mouse moves dozens of times per second, the website would crash. that's why we use </a:t>
            </a:r>
            <a:r>
              <a:rPr lang="en-US" sz="950" dirty="0" err="1">
                <a:solidFill>
                  <a:srgbClr val="4A5568"/>
                </a:solidFill>
              </a:rPr>
              <a:t>useRef</a:t>
            </a:r>
            <a:r>
              <a:rPr lang="en-US" sz="950" dirty="0">
                <a:solidFill>
                  <a:srgbClr val="4A5568"/>
                </a:solidFill>
              </a:rPr>
              <a:t>. it doesn't trigger re-renders</a:t>
            </a:r>
            <a:endParaRPr lang="en-US" sz="950" dirty="0"/>
          </a:p>
        </p:txBody>
      </p:sp>
      <p:sp>
        <p:nvSpPr>
          <p:cNvPr id="17" name="Shape 14"/>
          <p:cNvSpPr/>
          <p:nvPr/>
        </p:nvSpPr>
        <p:spPr>
          <a:xfrm>
            <a:off x="457200" y="3703320"/>
            <a:ext cx="6858000" cy="566928"/>
          </a:xfrm>
          <a:prstGeom prst="rect">
            <a:avLst/>
          </a:prstGeom>
          <a:solidFill>
            <a:srgbClr val="E6F4EA"/>
          </a:solidFill>
          <a:ln/>
        </p:spPr>
        <p:txBody>
          <a:bodyPr/>
          <a:lstStyle/>
          <a:p>
            <a:endParaRPr lang="en-US"/>
          </a:p>
        </p:txBody>
      </p:sp>
      <p:sp>
        <p:nvSpPr>
          <p:cNvPr id="18" name="Text 15"/>
          <p:cNvSpPr/>
          <p:nvPr/>
        </p:nvSpPr>
        <p:spPr>
          <a:xfrm>
            <a:off x="594360" y="3730752"/>
            <a:ext cx="1371600" cy="182880"/>
          </a:xfrm>
          <a:prstGeom prst="rect">
            <a:avLst/>
          </a:prstGeom>
          <a:noFill/>
          <a:ln/>
        </p:spPr>
        <p:txBody>
          <a:bodyPr wrap="square" rtlCol="0" anchor="ctr"/>
          <a:lstStyle/>
          <a:p>
            <a:pPr marL="0" indent="0">
              <a:buNone/>
            </a:pPr>
            <a:r>
              <a:rPr lang="en-US" sz="800" b="1" dirty="0">
                <a:solidFill>
                  <a:srgbClr val="2D8A4E"/>
                </a:solidFill>
              </a:rPr>
              <a:t>AI Examiner</a:t>
            </a:r>
            <a:endParaRPr lang="en-US" sz="800" dirty="0"/>
          </a:p>
        </p:txBody>
      </p:sp>
      <p:sp>
        <p:nvSpPr>
          <p:cNvPr id="19" name="Text 16"/>
          <p:cNvSpPr/>
          <p:nvPr/>
        </p:nvSpPr>
        <p:spPr>
          <a:xfrm>
            <a:off x="594360" y="3886200"/>
            <a:ext cx="6583680" cy="338328"/>
          </a:xfrm>
          <a:prstGeom prst="rect">
            <a:avLst/>
          </a:prstGeom>
          <a:noFill/>
          <a:ln/>
        </p:spPr>
        <p:txBody>
          <a:bodyPr wrap="square" rtlCol="0" anchor="t"/>
          <a:lstStyle/>
          <a:p>
            <a:pPr marL="0" indent="0">
              <a:buNone/>
            </a:pPr>
            <a:r>
              <a:rPr lang="en-US" sz="950" dirty="0">
                <a:solidFill>
                  <a:srgbClr val="4A5568"/>
                </a:solidFill>
              </a:rPr>
              <a:t>Exactly! useRef doesn't trigger re-renders, so mutating dragState.current keeps the component performant. Great job working through that!</a:t>
            </a:r>
            <a:endParaRPr lang="en-US" sz="950" dirty="0"/>
          </a:p>
        </p:txBody>
      </p:sp>
      <p:sp>
        <p:nvSpPr>
          <p:cNvPr id="20" name="Text 17"/>
          <p:cNvSpPr/>
          <p:nvPr/>
        </p:nvSpPr>
        <p:spPr>
          <a:xfrm>
            <a:off x="457200" y="4389120"/>
            <a:ext cx="8229600" cy="274320"/>
          </a:xfrm>
          <a:prstGeom prst="rect">
            <a:avLst/>
          </a:prstGeom>
          <a:noFill/>
          <a:ln/>
        </p:spPr>
        <p:txBody>
          <a:bodyPr wrap="square" rtlCol="0" anchor="ctr"/>
          <a:lstStyle/>
          <a:p>
            <a:pPr marL="0" indent="0">
              <a:buNone/>
            </a:pPr>
            <a:r>
              <a:rPr lang="en-US" sz="900" b="1" dirty="0">
                <a:solidFill>
                  <a:srgbClr val="2D3748"/>
                </a:solidFill>
              </a:rPr>
              <a:t>Key: </a:t>
            </a:r>
            <a:r>
              <a:rPr lang="en-US" sz="900" dirty="0">
                <a:solidFill>
                  <a:srgbClr val="718096"/>
                </a:solidFill>
              </a:rPr>
              <a:t>Questions are personalized to their code  •  Follow-ups probe deeper  •  Evaluation is immediate</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p:nvPr/>
        </p:nvSpPr>
        <p:spPr>
          <a:xfrm>
            <a:off x="731520" y="182880"/>
            <a:ext cx="5486400" cy="548640"/>
          </a:xfrm>
          <a:prstGeom prst="rect">
            <a:avLst/>
          </a:prstGeom>
          <a:noFill/>
          <a:ln/>
        </p:spPr>
        <p:txBody>
          <a:bodyPr wrap="square" rtlCol="0" anchor="ctr"/>
          <a:lstStyle/>
          <a:p>
            <a:pPr marL="0" indent="0">
              <a:buNone/>
            </a:pPr>
            <a:r>
              <a:rPr lang="en-US" sz="2600" b="1" dirty="0">
                <a:solidFill>
                  <a:srgbClr val="2D3748"/>
                </a:solidFill>
              </a:rPr>
              <a:t>Some Quiz Stats</a:t>
            </a:r>
            <a:endParaRPr lang="en-US" sz="2600" dirty="0"/>
          </a:p>
        </p:txBody>
      </p:sp>
      <p:sp>
        <p:nvSpPr>
          <p:cNvPr id="4" name="Text 1"/>
          <p:cNvSpPr/>
          <p:nvPr/>
        </p:nvSpPr>
        <p:spPr>
          <a:xfrm>
            <a:off x="731520" y="640080"/>
            <a:ext cx="7680960" cy="274320"/>
          </a:xfrm>
          <a:prstGeom prst="rect">
            <a:avLst/>
          </a:prstGeom>
          <a:noFill/>
          <a:ln/>
        </p:spPr>
        <p:txBody>
          <a:bodyPr wrap="square" rtlCol="0" anchor="ctr"/>
          <a:lstStyle/>
          <a:p>
            <a:pPr marL="0" indent="0">
              <a:buNone/>
            </a:pPr>
            <a:r>
              <a:rPr lang="en-US" sz="1000" dirty="0">
                <a:solidFill>
                  <a:srgbClr val="A0AEC0"/>
                </a:solidFill>
              </a:rPr>
              <a:t>React Fundamentals Quiz  •  CS 52 W26  •  7 questions, code-aware, unlimited retakes</a:t>
            </a:r>
            <a:endParaRPr lang="en-US" sz="1000" dirty="0"/>
          </a:p>
        </p:txBody>
      </p:sp>
      <p:sp>
        <p:nvSpPr>
          <p:cNvPr id="5" name="Shape 2"/>
          <p:cNvSpPr/>
          <p:nvPr/>
        </p:nvSpPr>
        <p:spPr>
          <a:xfrm>
            <a:off x="320040" y="1661823"/>
            <a:ext cx="8503920" cy="2103120"/>
          </a:xfrm>
          <a:prstGeom prst="rect">
            <a:avLst/>
          </a:prstGeom>
          <a:solidFill>
            <a:srgbClr val="F0F4F8"/>
          </a:solidFill>
          <a:ln/>
        </p:spPr>
        <p:txBody>
          <a:bodyPr/>
          <a:lstStyle/>
          <a:p>
            <a:endParaRPr lang="en-US"/>
          </a:p>
        </p:txBody>
      </p:sp>
      <p:sp>
        <p:nvSpPr>
          <p:cNvPr id="6" name="Text 3"/>
          <p:cNvSpPr/>
          <p:nvPr/>
        </p:nvSpPr>
        <p:spPr>
          <a:xfrm>
            <a:off x="502920" y="1707543"/>
            <a:ext cx="3657600" cy="228600"/>
          </a:xfrm>
          <a:prstGeom prst="rect">
            <a:avLst/>
          </a:prstGeom>
          <a:noFill/>
          <a:ln/>
        </p:spPr>
        <p:txBody>
          <a:bodyPr wrap="square" rtlCol="0" anchor="ctr"/>
          <a:lstStyle/>
          <a:p>
            <a:pPr marL="0" indent="0">
              <a:buNone/>
            </a:pPr>
            <a:r>
              <a:rPr lang="en-US" sz="1000" b="1" dirty="0">
                <a:solidFill>
                  <a:srgbClr val="2D8A4E"/>
                </a:solidFill>
              </a:rPr>
              <a:t>PROGRESSIVE HINT SYSTEM</a:t>
            </a:r>
            <a:endParaRPr lang="en-US" sz="1000" dirty="0"/>
          </a:p>
        </p:txBody>
      </p:sp>
      <p:sp>
        <p:nvSpPr>
          <p:cNvPr id="7" name="Text 4"/>
          <p:cNvSpPr/>
          <p:nvPr/>
        </p:nvSpPr>
        <p:spPr>
          <a:xfrm>
            <a:off x="502920" y="2027583"/>
            <a:ext cx="8138160" cy="1645920"/>
          </a:xfrm>
          <a:prstGeom prst="rect">
            <a:avLst/>
          </a:prstGeom>
          <a:noFill/>
          <a:ln/>
        </p:spPr>
        <p:txBody>
          <a:bodyPr wrap="square" rtlCol="0" anchor="t"/>
          <a:lstStyle/>
          <a:p>
            <a:pPr marL="0" indent="0">
              <a:buNone/>
            </a:pPr>
            <a:r>
              <a:rPr lang="en-US" sz="1400" dirty="0">
                <a:solidFill>
                  <a:srgbClr val="2D3748"/>
                </a:solidFill>
              </a:rPr>
              <a:t>First attempt avg: </a:t>
            </a:r>
            <a:r>
              <a:rPr lang="en-US" sz="2200" b="1" dirty="0">
                <a:solidFill>
                  <a:srgbClr val="D06070"/>
                </a:solidFill>
              </a:rPr>
              <a:t>74%</a:t>
            </a:r>
            <a:r>
              <a:rPr lang="en-US" sz="1400" dirty="0">
                <a:solidFill>
                  <a:srgbClr val="2D3748"/>
                </a:solidFill>
              </a:rPr>
              <a:t>     With hints avg: </a:t>
            </a:r>
            <a:r>
              <a:rPr lang="en-US" sz="2200" b="1" dirty="0">
                <a:solidFill>
                  <a:srgbClr val="2D8A4E"/>
                </a:solidFill>
              </a:rPr>
              <a:t>89%</a:t>
            </a:r>
            <a:r>
              <a:rPr lang="en-US" sz="1400" dirty="0">
                <a:solidFill>
                  <a:srgbClr val="2D3748"/>
                </a:solidFill>
              </a:rPr>
              <a:t>     Improvement: </a:t>
            </a:r>
            <a:r>
              <a:rPr lang="en-US" sz="2200" b="1" dirty="0">
                <a:solidFill>
                  <a:srgbClr val="2D8A4E"/>
                </a:solidFill>
              </a:rPr>
              <a:t>+15pp</a:t>
            </a:r>
            <a:endParaRPr lang="en-US" sz="1400" dirty="0"/>
          </a:p>
          <a:p>
            <a:pPr marL="0" indent="0">
              <a:buNone/>
            </a:pPr>
            <a:endParaRPr lang="en-US" sz="1400" dirty="0"/>
          </a:p>
          <a:p>
            <a:pPr marL="0" indent="0">
              <a:buNone/>
            </a:pPr>
            <a:r>
              <a:rPr lang="en-US" sz="1100" dirty="0">
                <a:solidFill>
                  <a:srgbClr val="A0AEC0"/>
                </a:solidFill>
              </a:rPr>
              <a:t>Credit decay per hint: 100% → 75% → 60% → 50% → 40%</a:t>
            </a:r>
            <a:endParaRPr lang="en-US" sz="1400" dirty="0"/>
          </a:p>
          <a:p>
            <a:pPr marL="0" indent="0">
              <a:buNone/>
            </a:pPr>
            <a:endParaRPr lang="en-US" sz="1400" dirty="0"/>
          </a:p>
          <a:p>
            <a:pPr marL="0" indent="0">
              <a:buNone/>
            </a:pPr>
            <a:r>
              <a:rPr lang="en-US" sz="1200" dirty="0">
                <a:solidFill>
                  <a:srgbClr val="2D3748"/>
                </a:solidFill>
              </a:rPr>
              <a:t>71% in-session retry rate</a:t>
            </a:r>
            <a:endParaRPr lang="en-US" sz="1400" dirty="0"/>
          </a:p>
          <a:p>
            <a:pPr marL="0" indent="0">
              <a:buNone/>
            </a:pPr>
            <a:r>
              <a:rPr lang="en-US" sz="1100" dirty="0">
                <a:solidFill>
                  <a:srgbClr val="718096"/>
                </a:solidFill>
              </a:rPr>
              <a:t> — students actively chose to try again with hints rather than moving on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p:nvPr/>
        </p:nvSpPr>
        <p:spPr>
          <a:xfrm>
            <a:off x="731520" y="182880"/>
            <a:ext cx="7680960" cy="548640"/>
          </a:xfrm>
          <a:prstGeom prst="rect">
            <a:avLst/>
          </a:prstGeom>
          <a:noFill/>
          <a:ln/>
        </p:spPr>
        <p:txBody>
          <a:bodyPr wrap="square" rtlCol="0" anchor="ctr"/>
          <a:lstStyle/>
          <a:p>
            <a:pPr marL="0" indent="0">
              <a:buNone/>
            </a:pPr>
            <a:r>
              <a:rPr lang="en-US" sz="2600" b="1" dirty="0">
                <a:solidFill>
                  <a:srgbClr val="2D3748"/>
                </a:solidFill>
              </a:rPr>
              <a:t>Some Choice Quotes</a:t>
            </a:r>
            <a:endParaRPr lang="en-US" sz="2600" dirty="0"/>
          </a:p>
        </p:txBody>
      </p:sp>
      <p:sp>
        <p:nvSpPr>
          <p:cNvPr id="5" name="Shape 2"/>
          <p:cNvSpPr/>
          <p:nvPr/>
        </p:nvSpPr>
        <p:spPr>
          <a:xfrm>
            <a:off x="274320" y="870668"/>
            <a:ext cx="4114800" cy="1188720"/>
          </a:xfrm>
          <a:prstGeom prst="rect">
            <a:avLst/>
          </a:prstGeom>
          <a:solidFill>
            <a:srgbClr val="F0F4F8"/>
          </a:solidFill>
          <a:ln/>
        </p:spPr>
        <p:txBody>
          <a:bodyPr/>
          <a:lstStyle/>
          <a:p>
            <a:endParaRPr lang="en-US"/>
          </a:p>
        </p:txBody>
      </p:sp>
      <p:sp>
        <p:nvSpPr>
          <p:cNvPr id="6" name="Text 3"/>
          <p:cNvSpPr/>
          <p:nvPr/>
        </p:nvSpPr>
        <p:spPr>
          <a:xfrm>
            <a:off x="411480" y="916388"/>
            <a:ext cx="3840480" cy="182880"/>
          </a:xfrm>
          <a:prstGeom prst="rect">
            <a:avLst/>
          </a:prstGeom>
          <a:noFill/>
          <a:ln/>
        </p:spPr>
        <p:txBody>
          <a:bodyPr wrap="square" rtlCol="0" anchor="ctr"/>
          <a:lstStyle/>
          <a:p>
            <a:pPr marL="0" indent="0">
              <a:buNone/>
            </a:pPr>
            <a:r>
              <a:rPr lang="en-US" sz="800" b="1" dirty="0">
                <a:solidFill>
                  <a:srgbClr val="4A80C4"/>
                </a:solidFill>
              </a:rPr>
              <a:t>HONEST SELF-ASSESSMENT</a:t>
            </a:r>
            <a:endParaRPr lang="en-US" sz="800" dirty="0"/>
          </a:p>
        </p:txBody>
      </p:sp>
      <p:sp>
        <p:nvSpPr>
          <p:cNvPr id="7" name="Text 4"/>
          <p:cNvSpPr/>
          <p:nvPr/>
        </p:nvSpPr>
        <p:spPr>
          <a:xfrm>
            <a:off x="411480" y="1126700"/>
            <a:ext cx="3840480" cy="594360"/>
          </a:xfrm>
          <a:prstGeom prst="rect">
            <a:avLst/>
          </a:prstGeom>
          <a:noFill/>
          <a:ln/>
        </p:spPr>
        <p:txBody>
          <a:bodyPr wrap="square" rtlCol="0" anchor="t"/>
          <a:lstStyle/>
          <a:p>
            <a:pPr marL="0" indent="0">
              <a:buNone/>
            </a:pPr>
            <a:r>
              <a:rPr lang="en-US" sz="1000" i="1" dirty="0">
                <a:solidFill>
                  <a:srgbClr val="2D3748"/>
                </a:solidFill>
              </a:rPr>
              <a:t>"My knowledge of useEffect is rusty. I think it runs every time the page is loaded. Is this true?"</a:t>
            </a:r>
            <a:endParaRPr lang="en-US" sz="1000" dirty="0"/>
          </a:p>
        </p:txBody>
      </p:sp>
      <p:sp>
        <p:nvSpPr>
          <p:cNvPr id="8" name="Text 5"/>
          <p:cNvSpPr/>
          <p:nvPr/>
        </p:nvSpPr>
        <p:spPr>
          <a:xfrm>
            <a:off x="411480" y="1739348"/>
            <a:ext cx="3840480" cy="274320"/>
          </a:xfrm>
          <a:prstGeom prst="rect">
            <a:avLst/>
          </a:prstGeom>
          <a:noFill/>
          <a:ln/>
        </p:spPr>
        <p:txBody>
          <a:bodyPr wrap="square" rtlCol="0" anchor="b"/>
          <a:lstStyle/>
          <a:p>
            <a:pPr marL="0" indent="0">
              <a:buNone/>
            </a:pPr>
            <a:r>
              <a:rPr lang="en-US" sz="800" dirty="0">
                <a:solidFill>
                  <a:srgbClr val="718096"/>
                </a:solidFill>
              </a:rPr>
              <a:t>— Student turned the quiz into a learning conversation</a:t>
            </a:r>
            <a:endParaRPr lang="en-US" sz="800" dirty="0"/>
          </a:p>
        </p:txBody>
      </p:sp>
      <p:sp>
        <p:nvSpPr>
          <p:cNvPr id="9" name="Shape 6"/>
          <p:cNvSpPr/>
          <p:nvPr/>
        </p:nvSpPr>
        <p:spPr>
          <a:xfrm>
            <a:off x="4663440" y="870668"/>
            <a:ext cx="4114800" cy="1188720"/>
          </a:xfrm>
          <a:prstGeom prst="rect">
            <a:avLst/>
          </a:prstGeom>
          <a:solidFill>
            <a:srgbClr val="F0F4F8"/>
          </a:solidFill>
          <a:ln/>
        </p:spPr>
        <p:txBody>
          <a:bodyPr/>
          <a:lstStyle/>
          <a:p>
            <a:endParaRPr lang="en-US"/>
          </a:p>
        </p:txBody>
      </p:sp>
      <p:sp>
        <p:nvSpPr>
          <p:cNvPr id="10" name="Text 7"/>
          <p:cNvSpPr/>
          <p:nvPr/>
        </p:nvSpPr>
        <p:spPr>
          <a:xfrm>
            <a:off x="4800600" y="916388"/>
            <a:ext cx="3840480" cy="182880"/>
          </a:xfrm>
          <a:prstGeom prst="rect">
            <a:avLst/>
          </a:prstGeom>
          <a:noFill/>
          <a:ln/>
        </p:spPr>
        <p:txBody>
          <a:bodyPr wrap="square" rtlCol="0" anchor="ctr"/>
          <a:lstStyle/>
          <a:p>
            <a:pPr marL="0" indent="0">
              <a:buNone/>
            </a:pPr>
            <a:r>
              <a:rPr lang="en-US" sz="800" b="1" dirty="0">
                <a:solidFill>
                  <a:srgbClr val="2D8A4E"/>
                </a:solidFill>
              </a:rPr>
              <a:t>TREATING AI AS A PEER</a:t>
            </a:r>
            <a:endParaRPr lang="en-US" sz="800" dirty="0"/>
          </a:p>
        </p:txBody>
      </p:sp>
      <p:sp>
        <p:nvSpPr>
          <p:cNvPr id="11" name="Text 8"/>
          <p:cNvSpPr/>
          <p:nvPr/>
        </p:nvSpPr>
        <p:spPr>
          <a:xfrm>
            <a:off x="4800600" y="1126700"/>
            <a:ext cx="3840480" cy="594360"/>
          </a:xfrm>
          <a:prstGeom prst="rect">
            <a:avLst/>
          </a:prstGeom>
          <a:noFill/>
          <a:ln/>
        </p:spPr>
        <p:txBody>
          <a:bodyPr wrap="square" rtlCol="0" anchor="t"/>
          <a:lstStyle/>
          <a:p>
            <a:pPr marL="0" indent="0">
              <a:buNone/>
            </a:pPr>
            <a:r>
              <a:rPr lang="en-US" sz="1000" i="1" dirty="0">
                <a:solidFill>
                  <a:srgbClr val="2D3748"/>
                </a:solidFill>
              </a:rPr>
              <a:t>"That's a good question. Mostly just separation of concerns... But I admit there's more nuance to it."</a:t>
            </a:r>
            <a:endParaRPr lang="en-US" sz="1000" dirty="0"/>
          </a:p>
        </p:txBody>
      </p:sp>
      <p:sp>
        <p:nvSpPr>
          <p:cNvPr id="12" name="Text 9"/>
          <p:cNvSpPr/>
          <p:nvPr/>
        </p:nvSpPr>
        <p:spPr>
          <a:xfrm>
            <a:off x="4800600" y="1739348"/>
            <a:ext cx="3840480" cy="274320"/>
          </a:xfrm>
          <a:prstGeom prst="rect">
            <a:avLst/>
          </a:prstGeom>
          <a:noFill/>
          <a:ln/>
        </p:spPr>
        <p:txBody>
          <a:bodyPr wrap="square" rtlCol="0" anchor="b"/>
          <a:lstStyle/>
          <a:p>
            <a:pPr marL="0" indent="0">
              <a:buNone/>
            </a:pPr>
            <a:r>
              <a:rPr lang="en-US" sz="800" dirty="0">
                <a:solidFill>
                  <a:srgbClr val="718096"/>
                </a:solidFill>
              </a:rPr>
              <a:t>— Student adopted professional code-review discourse</a:t>
            </a:r>
            <a:endParaRPr lang="en-US" sz="800" dirty="0"/>
          </a:p>
        </p:txBody>
      </p:sp>
      <p:sp>
        <p:nvSpPr>
          <p:cNvPr id="13" name="Shape 10"/>
          <p:cNvSpPr/>
          <p:nvPr/>
        </p:nvSpPr>
        <p:spPr>
          <a:xfrm>
            <a:off x="274320" y="2150828"/>
            <a:ext cx="4114800" cy="1188720"/>
          </a:xfrm>
          <a:prstGeom prst="rect">
            <a:avLst/>
          </a:prstGeom>
          <a:solidFill>
            <a:srgbClr val="F0F4F8"/>
          </a:solidFill>
          <a:ln/>
        </p:spPr>
        <p:txBody>
          <a:bodyPr/>
          <a:lstStyle/>
          <a:p>
            <a:endParaRPr lang="en-US"/>
          </a:p>
        </p:txBody>
      </p:sp>
      <p:sp>
        <p:nvSpPr>
          <p:cNvPr id="14" name="Text 11"/>
          <p:cNvSpPr/>
          <p:nvPr/>
        </p:nvSpPr>
        <p:spPr>
          <a:xfrm>
            <a:off x="411480" y="2196548"/>
            <a:ext cx="3840480" cy="182880"/>
          </a:xfrm>
          <a:prstGeom prst="rect">
            <a:avLst/>
          </a:prstGeom>
          <a:noFill/>
          <a:ln/>
        </p:spPr>
        <p:txBody>
          <a:bodyPr wrap="square" rtlCol="0" anchor="ctr"/>
          <a:lstStyle/>
          <a:p>
            <a:pPr marL="0" indent="0">
              <a:buNone/>
            </a:pPr>
            <a:r>
              <a:rPr lang="en-US" sz="800" b="1" dirty="0">
                <a:solidFill>
                  <a:srgbClr val="D06070"/>
                </a:solidFill>
              </a:rPr>
              <a:t>PUSHING BACK ON AI</a:t>
            </a:r>
            <a:endParaRPr lang="en-US" sz="800" dirty="0"/>
          </a:p>
        </p:txBody>
      </p:sp>
      <p:sp>
        <p:nvSpPr>
          <p:cNvPr id="15" name="Text 12"/>
          <p:cNvSpPr/>
          <p:nvPr/>
        </p:nvSpPr>
        <p:spPr>
          <a:xfrm>
            <a:off x="411480" y="2406860"/>
            <a:ext cx="3840480" cy="594360"/>
          </a:xfrm>
          <a:prstGeom prst="rect">
            <a:avLst/>
          </a:prstGeom>
          <a:noFill/>
          <a:ln/>
        </p:spPr>
        <p:txBody>
          <a:bodyPr wrap="square" rtlCol="0" anchor="t"/>
          <a:lstStyle/>
          <a:p>
            <a:pPr marL="0" indent="0">
              <a:buNone/>
            </a:pPr>
            <a:r>
              <a:rPr lang="en-US" sz="1000" i="1" dirty="0">
                <a:solidFill>
                  <a:srgbClr val="2D3748"/>
                </a:solidFill>
              </a:rPr>
              <a:t>"I think you are being really nit picky... I literally said that the first time."</a:t>
            </a:r>
            <a:endParaRPr lang="en-US" sz="1000" dirty="0"/>
          </a:p>
        </p:txBody>
      </p:sp>
      <p:sp>
        <p:nvSpPr>
          <p:cNvPr id="16" name="Text 13"/>
          <p:cNvSpPr/>
          <p:nvPr/>
        </p:nvSpPr>
        <p:spPr>
          <a:xfrm>
            <a:off x="411480" y="3019508"/>
            <a:ext cx="3840480" cy="274320"/>
          </a:xfrm>
          <a:prstGeom prst="rect">
            <a:avLst/>
          </a:prstGeom>
          <a:noFill/>
          <a:ln/>
        </p:spPr>
        <p:txBody>
          <a:bodyPr wrap="square" rtlCol="0" anchor="b"/>
          <a:lstStyle/>
          <a:p>
            <a:pPr marL="0" indent="0">
              <a:buNone/>
            </a:pPr>
            <a:r>
              <a:rPr lang="en-US" sz="800" dirty="0">
                <a:solidFill>
                  <a:srgbClr val="718096"/>
                </a:solidFill>
              </a:rPr>
              <a:t>— Student challenged the AI's evaluation — and was right</a:t>
            </a:r>
            <a:endParaRPr lang="en-US" sz="800" dirty="0"/>
          </a:p>
        </p:txBody>
      </p:sp>
      <p:sp>
        <p:nvSpPr>
          <p:cNvPr id="17" name="Shape 14"/>
          <p:cNvSpPr/>
          <p:nvPr/>
        </p:nvSpPr>
        <p:spPr>
          <a:xfrm>
            <a:off x="4663440" y="2150828"/>
            <a:ext cx="4114800" cy="1188720"/>
          </a:xfrm>
          <a:prstGeom prst="rect">
            <a:avLst/>
          </a:prstGeom>
          <a:solidFill>
            <a:srgbClr val="F0F4F8"/>
          </a:solidFill>
          <a:ln/>
        </p:spPr>
        <p:txBody>
          <a:bodyPr/>
          <a:lstStyle/>
          <a:p>
            <a:endParaRPr lang="en-US"/>
          </a:p>
        </p:txBody>
      </p:sp>
      <p:sp>
        <p:nvSpPr>
          <p:cNvPr id="18" name="Text 15"/>
          <p:cNvSpPr/>
          <p:nvPr/>
        </p:nvSpPr>
        <p:spPr>
          <a:xfrm>
            <a:off x="4800600" y="2196548"/>
            <a:ext cx="3840480" cy="182880"/>
          </a:xfrm>
          <a:prstGeom prst="rect">
            <a:avLst/>
          </a:prstGeom>
          <a:noFill/>
          <a:ln/>
        </p:spPr>
        <p:txBody>
          <a:bodyPr wrap="square" rtlCol="0" anchor="ctr"/>
          <a:lstStyle/>
          <a:p>
            <a:pPr marL="0" indent="0">
              <a:buNone/>
            </a:pPr>
            <a:r>
              <a:rPr lang="en-US" sz="800" b="1" dirty="0">
                <a:solidFill>
                  <a:srgbClr val="C08040"/>
                </a:solidFill>
              </a:rPr>
              <a:t>METACOGNITION</a:t>
            </a:r>
            <a:endParaRPr lang="en-US" sz="800" dirty="0"/>
          </a:p>
        </p:txBody>
      </p:sp>
      <p:sp>
        <p:nvSpPr>
          <p:cNvPr id="19" name="Text 16"/>
          <p:cNvSpPr/>
          <p:nvPr/>
        </p:nvSpPr>
        <p:spPr>
          <a:xfrm>
            <a:off x="4800600" y="2406860"/>
            <a:ext cx="3840480" cy="594360"/>
          </a:xfrm>
          <a:prstGeom prst="rect">
            <a:avLst/>
          </a:prstGeom>
          <a:noFill/>
          <a:ln/>
        </p:spPr>
        <p:txBody>
          <a:bodyPr wrap="square" rtlCol="0" anchor="t"/>
          <a:lstStyle/>
          <a:p>
            <a:pPr marL="0" indent="0">
              <a:buNone/>
            </a:pPr>
            <a:r>
              <a:rPr lang="en-US" sz="1000" i="1" dirty="0">
                <a:solidFill>
                  <a:srgbClr val="2D3748"/>
                </a:solidFill>
              </a:rPr>
              <a:t>"prop-drill is not good but it was a mistake that has been learned"</a:t>
            </a:r>
            <a:endParaRPr lang="en-US" sz="1000" dirty="0"/>
          </a:p>
        </p:txBody>
      </p:sp>
      <p:sp>
        <p:nvSpPr>
          <p:cNvPr id="20" name="Text 17"/>
          <p:cNvSpPr/>
          <p:nvPr/>
        </p:nvSpPr>
        <p:spPr>
          <a:xfrm>
            <a:off x="4800600" y="3019508"/>
            <a:ext cx="3840480" cy="274320"/>
          </a:xfrm>
          <a:prstGeom prst="rect">
            <a:avLst/>
          </a:prstGeom>
          <a:noFill/>
          <a:ln/>
        </p:spPr>
        <p:txBody>
          <a:bodyPr wrap="square" rtlCol="0" anchor="b"/>
          <a:lstStyle/>
          <a:p>
            <a:pPr marL="0" indent="0">
              <a:buNone/>
            </a:pPr>
            <a:r>
              <a:rPr lang="en-US" sz="800" dirty="0">
                <a:solidFill>
                  <a:srgbClr val="718096"/>
                </a:solidFill>
              </a:rPr>
              <a:t>— Student named the anti-pattern and framed it as growth</a:t>
            </a:r>
            <a:endParaRPr lang="en-US" sz="800" dirty="0"/>
          </a:p>
        </p:txBody>
      </p:sp>
      <p:sp>
        <p:nvSpPr>
          <p:cNvPr id="21" name="Shape 18"/>
          <p:cNvSpPr/>
          <p:nvPr/>
        </p:nvSpPr>
        <p:spPr>
          <a:xfrm>
            <a:off x="274320" y="3430988"/>
            <a:ext cx="4114800" cy="1188720"/>
          </a:xfrm>
          <a:prstGeom prst="rect">
            <a:avLst/>
          </a:prstGeom>
          <a:solidFill>
            <a:srgbClr val="F0F4F8"/>
          </a:solidFill>
          <a:ln/>
        </p:spPr>
        <p:txBody>
          <a:bodyPr/>
          <a:lstStyle/>
          <a:p>
            <a:endParaRPr lang="en-US"/>
          </a:p>
        </p:txBody>
      </p:sp>
      <p:sp>
        <p:nvSpPr>
          <p:cNvPr id="22" name="Text 19"/>
          <p:cNvSpPr/>
          <p:nvPr/>
        </p:nvSpPr>
        <p:spPr>
          <a:xfrm>
            <a:off x="411480" y="3476708"/>
            <a:ext cx="3840480" cy="182880"/>
          </a:xfrm>
          <a:prstGeom prst="rect">
            <a:avLst/>
          </a:prstGeom>
          <a:noFill/>
          <a:ln/>
        </p:spPr>
        <p:txBody>
          <a:bodyPr wrap="square" rtlCol="0" anchor="ctr"/>
          <a:lstStyle/>
          <a:p>
            <a:pPr marL="0" indent="0">
              <a:buNone/>
            </a:pPr>
            <a:r>
              <a:rPr lang="en-US" sz="800" b="1" dirty="0">
                <a:solidFill>
                  <a:srgbClr val="2D8A4E"/>
                </a:solidFill>
              </a:rPr>
              <a:t>BEYOND THE CURRICULUM</a:t>
            </a:r>
            <a:endParaRPr lang="en-US" sz="800" dirty="0"/>
          </a:p>
        </p:txBody>
      </p:sp>
      <p:sp>
        <p:nvSpPr>
          <p:cNvPr id="23" name="Text 20"/>
          <p:cNvSpPr/>
          <p:nvPr/>
        </p:nvSpPr>
        <p:spPr>
          <a:xfrm>
            <a:off x="411480" y="3687020"/>
            <a:ext cx="3840480" cy="594360"/>
          </a:xfrm>
          <a:prstGeom prst="rect">
            <a:avLst/>
          </a:prstGeom>
          <a:noFill/>
          <a:ln/>
        </p:spPr>
        <p:txBody>
          <a:bodyPr wrap="square" rtlCol="0" anchor="t"/>
          <a:lstStyle/>
          <a:p>
            <a:pPr marL="0" indent="0">
              <a:buNone/>
            </a:pPr>
            <a:r>
              <a:rPr lang="en-US" sz="1000" i="1" dirty="0">
                <a:solidFill>
                  <a:srgbClr val="2D3748"/>
                </a:solidFill>
              </a:rPr>
              <a:t>"This is implementing a mutex lock... a better way in the future is to use a CRDT to resolve conflicts."</a:t>
            </a:r>
            <a:endParaRPr lang="en-US" sz="1000" dirty="0"/>
          </a:p>
        </p:txBody>
      </p:sp>
      <p:sp>
        <p:nvSpPr>
          <p:cNvPr id="24" name="Text 21"/>
          <p:cNvSpPr/>
          <p:nvPr/>
        </p:nvSpPr>
        <p:spPr>
          <a:xfrm>
            <a:off x="411480" y="4299668"/>
            <a:ext cx="3840480" cy="274320"/>
          </a:xfrm>
          <a:prstGeom prst="rect">
            <a:avLst/>
          </a:prstGeom>
          <a:noFill/>
          <a:ln/>
        </p:spPr>
        <p:txBody>
          <a:bodyPr wrap="square" rtlCol="0" anchor="b"/>
          <a:lstStyle/>
          <a:p>
            <a:pPr marL="0" indent="0">
              <a:buNone/>
            </a:pPr>
            <a:r>
              <a:rPr lang="en-US" sz="800" dirty="0">
                <a:solidFill>
                  <a:srgbClr val="718096"/>
                </a:solidFill>
              </a:rPr>
              <a:t>— Student went beyond course material unprompted</a:t>
            </a:r>
            <a:endParaRPr lang="en-US" sz="800" dirty="0"/>
          </a:p>
        </p:txBody>
      </p:sp>
      <p:sp>
        <p:nvSpPr>
          <p:cNvPr id="25" name="Shape 22"/>
          <p:cNvSpPr/>
          <p:nvPr/>
        </p:nvSpPr>
        <p:spPr>
          <a:xfrm>
            <a:off x="4663440" y="3430988"/>
            <a:ext cx="4114800" cy="1188720"/>
          </a:xfrm>
          <a:prstGeom prst="rect">
            <a:avLst/>
          </a:prstGeom>
          <a:solidFill>
            <a:srgbClr val="F0F4F8"/>
          </a:solidFill>
          <a:ln/>
        </p:spPr>
        <p:txBody>
          <a:bodyPr/>
          <a:lstStyle/>
          <a:p>
            <a:endParaRPr lang="en-US"/>
          </a:p>
        </p:txBody>
      </p:sp>
      <p:sp>
        <p:nvSpPr>
          <p:cNvPr id="26" name="Text 23"/>
          <p:cNvSpPr/>
          <p:nvPr/>
        </p:nvSpPr>
        <p:spPr>
          <a:xfrm>
            <a:off x="4800600" y="3476708"/>
            <a:ext cx="3840480" cy="182880"/>
          </a:xfrm>
          <a:prstGeom prst="rect">
            <a:avLst/>
          </a:prstGeom>
          <a:noFill/>
          <a:ln/>
        </p:spPr>
        <p:txBody>
          <a:bodyPr wrap="square" rtlCol="0" anchor="ctr"/>
          <a:lstStyle/>
          <a:p>
            <a:pPr marL="0" indent="0">
              <a:buNone/>
            </a:pPr>
            <a:r>
              <a:rPr lang="en-US" sz="800" b="1" dirty="0">
                <a:solidFill>
                  <a:srgbClr val="4A80C4"/>
                </a:solidFill>
              </a:rPr>
              <a:t>METACOGNITIVE CLARITY</a:t>
            </a:r>
            <a:endParaRPr lang="en-US" sz="800" dirty="0"/>
          </a:p>
        </p:txBody>
      </p:sp>
      <p:sp>
        <p:nvSpPr>
          <p:cNvPr id="27" name="Text 24"/>
          <p:cNvSpPr/>
          <p:nvPr/>
        </p:nvSpPr>
        <p:spPr>
          <a:xfrm>
            <a:off x="4800600" y="3687020"/>
            <a:ext cx="3840480" cy="594360"/>
          </a:xfrm>
          <a:prstGeom prst="rect">
            <a:avLst/>
          </a:prstGeom>
          <a:noFill/>
          <a:ln/>
        </p:spPr>
        <p:txBody>
          <a:bodyPr wrap="square" rtlCol="0" anchor="t"/>
          <a:lstStyle/>
          <a:p>
            <a:pPr marL="0" indent="0">
              <a:buNone/>
            </a:pPr>
            <a:r>
              <a:rPr lang="en-US" sz="1000" i="1" dirty="0">
                <a:solidFill>
                  <a:srgbClr val="2D3748"/>
                </a:solidFill>
              </a:rPr>
              <a:t>"Can you rephrase your question? Not sure I understand."</a:t>
            </a:r>
            <a:endParaRPr lang="en-US" sz="1000" dirty="0"/>
          </a:p>
        </p:txBody>
      </p:sp>
      <p:sp>
        <p:nvSpPr>
          <p:cNvPr id="28" name="Text 25"/>
          <p:cNvSpPr/>
          <p:nvPr/>
        </p:nvSpPr>
        <p:spPr>
          <a:xfrm>
            <a:off x="4800600" y="4299668"/>
            <a:ext cx="3840480" cy="274320"/>
          </a:xfrm>
          <a:prstGeom prst="rect">
            <a:avLst/>
          </a:prstGeom>
          <a:noFill/>
          <a:ln/>
        </p:spPr>
        <p:txBody>
          <a:bodyPr wrap="square" rtlCol="0" anchor="b"/>
          <a:lstStyle/>
          <a:p>
            <a:pPr marL="0" indent="0">
              <a:buNone/>
            </a:pPr>
            <a:r>
              <a:rPr lang="en-US" sz="800" dirty="0">
                <a:solidFill>
                  <a:srgbClr val="718096"/>
                </a:solidFill>
              </a:rPr>
              <a:t>— Admitting confusion led to faster learning than guessing</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p:nvPr/>
        </p:nvSpPr>
        <p:spPr>
          <a:xfrm>
            <a:off x="731520" y="274320"/>
            <a:ext cx="7680960" cy="548640"/>
          </a:xfrm>
          <a:prstGeom prst="rect">
            <a:avLst/>
          </a:prstGeom>
          <a:noFill/>
          <a:ln/>
        </p:spPr>
        <p:txBody>
          <a:bodyPr wrap="square" rtlCol="0" anchor="ctr"/>
          <a:lstStyle/>
          <a:p>
            <a:pPr marL="0" indent="0">
              <a:buNone/>
            </a:pPr>
            <a:r>
              <a:rPr lang="en-US" sz="2800" b="1" dirty="0">
                <a:solidFill>
                  <a:srgbClr val="2D3748"/>
                </a:solidFill>
              </a:rPr>
              <a:t>The Accountability Loop</a:t>
            </a:r>
            <a:endParaRPr lang="en-US" sz="2800" dirty="0"/>
          </a:p>
        </p:txBody>
      </p:sp>
      <p:sp>
        <p:nvSpPr>
          <p:cNvPr id="4" name="Shape 1"/>
          <p:cNvSpPr/>
          <p:nvPr/>
        </p:nvSpPr>
        <p:spPr>
          <a:xfrm>
            <a:off x="914400" y="1188720"/>
            <a:ext cx="1828800" cy="777240"/>
          </a:xfrm>
          <a:prstGeom prst="rect">
            <a:avLst/>
          </a:prstGeom>
          <a:solidFill>
            <a:srgbClr val="F0F4F8"/>
          </a:solidFill>
          <a:ln w="19050">
            <a:solidFill>
              <a:srgbClr val="C08040"/>
            </a:solidFill>
            <a:prstDash val="solid"/>
          </a:ln>
        </p:spPr>
        <p:txBody>
          <a:bodyPr/>
          <a:lstStyle/>
          <a:p>
            <a:endParaRPr lang="en-US"/>
          </a:p>
        </p:txBody>
      </p:sp>
      <p:sp>
        <p:nvSpPr>
          <p:cNvPr id="5" name="Text 2"/>
          <p:cNvSpPr/>
          <p:nvPr/>
        </p:nvSpPr>
        <p:spPr>
          <a:xfrm>
            <a:off x="914400" y="1188720"/>
            <a:ext cx="1828800" cy="777240"/>
          </a:xfrm>
          <a:prstGeom prst="rect">
            <a:avLst/>
          </a:prstGeom>
          <a:noFill/>
          <a:ln/>
        </p:spPr>
        <p:txBody>
          <a:bodyPr wrap="square" rtlCol="0" anchor="ctr"/>
          <a:lstStyle/>
          <a:p>
            <a:pPr marL="0" indent="0" algn="ctr">
              <a:buNone/>
            </a:pPr>
            <a:r>
              <a:rPr lang="en-US" sz="1000" b="1" dirty="0">
                <a:solidFill>
                  <a:srgbClr val="2D3748"/>
                </a:solidFill>
              </a:rPr>
              <a:t>Know the quiz</a:t>
            </a:r>
            <a:endParaRPr lang="en-US" sz="1000" dirty="0"/>
          </a:p>
          <a:p>
            <a:pPr marL="0" indent="0" algn="ctr">
              <a:buNone/>
            </a:pPr>
            <a:r>
              <a:rPr lang="en-US" sz="1000" b="1" dirty="0">
                <a:solidFill>
                  <a:srgbClr val="2D3748"/>
                </a:solidFill>
              </a:rPr>
              <a:t>is coming</a:t>
            </a:r>
            <a:endParaRPr lang="en-US" sz="1000" dirty="0"/>
          </a:p>
        </p:txBody>
      </p:sp>
      <p:sp>
        <p:nvSpPr>
          <p:cNvPr id="6" name="Shape 3"/>
          <p:cNvSpPr/>
          <p:nvPr/>
        </p:nvSpPr>
        <p:spPr>
          <a:xfrm>
            <a:off x="3657600" y="1005840"/>
            <a:ext cx="1828800" cy="777240"/>
          </a:xfrm>
          <a:prstGeom prst="rect">
            <a:avLst/>
          </a:prstGeom>
          <a:solidFill>
            <a:srgbClr val="F0F4F8"/>
          </a:solidFill>
          <a:ln w="19050">
            <a:solidFill>
              <a:srgbClr val="4A80C4"/>
            </a:solidFill>
            <a:prstDash val="solid"/>
          </a:ln>
        </p:spPr>
        <p:txBody>
          <a:bodyPr/>
          <a:lstStyle/>
          <a:p>
            <a:endParaRPr lang="en-US"/>
          </a:p>
        </p:txBody>
      </p:sp>
      <p:sp>
        <p:nvSpPr>
          <p:cNvPr id="7" name="Text 4"/>
          <p:cNvSpPr/>
          <p:nvPr/>
        </p:nvSpPr>
        <p:spPr>
          <a:xfrm>
            <a:off x="3657600" y="1005840"/>
            <a:ext cx="1828800" cy="777240"/>
          </a:xfrm>
          <a:prstGeom prst="rect">
            <a:avLst/>
          </a:prstGeom>
          <a:noFill/>
          <a:ln/>
        </p:spPr>
        <p:txBody>
          <a:bodyPr wrap="square" rtlCol="0" anchor="ctr"/>
          <a:lstStyle/>
          <a:p>
            <a:pPr marL="0" indent="0" algn="ctr">
              <a:buNone/>
            </a:pPr>
            <a:r>
              <a:rPr lang="en-US" sz="1000" b="1" dirty="0">
                <a:solidFill>
                  <a:srgbClr val="2D3748"/>
                </a:solidFill>
              </a:rPr>
              <a:t>Ask AI to</a:t>
            </a:r>
            <a:endParaRPr lang="en-US" sz="1000" dirty="0"/>
          </a:p>
          <a:p>
            <a:pPr marL="0" indent="0" algn="ctr">
              <a:buNone/>
            </a:pPr>
            <a:r>
              <a:rPr lang="en-US" sz="1000" b="1" dirty="0">
                <a:solidFill>
                  <a:srgbClr val="2D3748"/>
                </a:solidFill>
              </a:rPr>
              <a:t>explain code</a:t>
            </a:r>
            <a:endParaRPr lang="en-US" sz="1000" dirty="0"/>
          </a:p>
        </p:txBody>
      </p:sp>
      <p:sp>
        <p:nvSpPr>
          <p:cNvPr id="8" name="Shape 5"/>
          <p:cNvSpPr/>
          <p:nvPr/>
        </p:nvSpPr>
        <p:spPr>
          <a:xfrm>
            <a:off x="6400800" y="1202436"/>
            <a:ext cx="1828800" cy="777240"/>
          </a:xfrm>
          <a:prstGeom prst="rect">
            <a:avLst/>
          </a:prstGeom>
          <a:solidFill>
            <a:srgbClr val="F0F4F8"/>
          </a:solidFill>
          <a:ln w="19050">
            <a:solidFill>
              <a:srgbClr val="2D8A4E"/>
            </a:solidFill>
            <a:prstDash val="solid"/>
          </a:ln>
        </p:spPr>
        <p:txBody>
          <a:bodyPr/>
          <a:lstStyle/>
          <a:p>
            <a:endParaRPr lang="en-US"/>
          </a:p>
        </p:txBody>
      </p:sp>
      <p:sp>
        <p:nvSpPr>
          <p:cNvPr id="9" name="Text 6"/>
          <p:cNvSpPr/>
          <p:nvPr/>
        </p:nvSpPr>
        <p:spPr>
          <a:xfrm>
            <a:off x="6400800" y="1188720"/>
            <a:ext cx="1828800" cy="777240"/>
          </a:xfrm>
          <a:prstGeom prst="rect">
            <a:avLst/>
          </a:prstGeom>
          <a:noFill/>
          <a:ln/>
        </p:spPr>
        <p:txBody>
          <a:bodyPr wrap="square" rtlCol="0" anchor="ctr"/>
          <a:lstStyle/>
          <a:p>
            <a:pPr marL="0" indent="0" algn="ctr">
              <a:buNone/>
            </a:pPr>
            <a:r>
              <a:rPr lang="en-US" sz="1000" b="1" dirty="0">
                <a:solidFill>
                  <a:srgbClr val="2D3748"/>
                </a:solidFill>
              </a:rPr>
              <a:t>Deeper</a:t>
            </a:r>
            <a:endParaRPr lang="en-US" sz="1000" dirty="0"/>
          </a:p>
          <a:p>
            <a:pPr marL="0" indent="0" algn="ctr">
              <a:buNone/>
            </a:pPr>
            <a:r>
              <a:rPr lang="en-US" sz="1000" b="1" dirty="0">
                <a:solidFill>
                  <a:srgbClr val="2D3748"/>
                </a:solidFill>
              </a:rPr>
              <a:t>understanding</a:t>
            </a:r>
            <a:endParaRPr lang="en-US" sz="1000" dirty="0"/>
          </a:p>
        </p:txBody>
      </p:sp>
      <p:sp>
        <p:nvSpPr>
          <p:cNvPr id="10" name="Shape 7"/>
          <p:cNvSpPr/>
          <p:nvPr/>
        </p:nvSpPr>
        <p:spPr>
          <a:xfrm>
            <a:off x="3657600" y="2286000"/>
            <a:ext cx="1828800" cy="777240"/>
          </a:xfrm>
          <a:prstGeom prst="rect">
            <a:avLst/>
          </a:prstGeom>
          <a:solidFill>
            <a:srgbClr val="F0F4F8"/>
          </a:solidFill>
          <a:ln w="19050">
            <a:solidFill>
              <a:srgbClr val="2D8A4E"/>
            </a:solidFill>
            <a:prstDash val="solid"/>
          </a:ln>
        </p:spPr>
        <p:txBody>
          <a:bodyPr/>
          <a:lstStyle/>
          <a:p>
            <a:endParaRPr lang="en-US"/>
          </a:p>
        </p:txBody>
      </p:sp>
      <p:sp>
        <p:nvSpPr>
          <p:cNvPr id="11" name="Text 8"/>
          <p:cNvSpPr/>
          <p:nvPr/>
        </p:nvSpPr>
        <p:spPr>
          <a:xfrm>
            <a:off x="3657600" y="2286000"/>
            <a:ext cx="1828800" cy="777240"/>
          </a:xfrm>
          <a:prstGeom prst="rect">
            <a:avLst/>
          </a:prstGeom>
          <a:noFill/>
          <a:ln/>
        </p:spPr>
        <p:txBody>
          <a:bodyPr wrap="square" rtlCol="0" anchor="ctr"/>
          <a:lstStyle/>
          <a:p>
            <a:pPr marL="0" indent="0" algn="ctr">
              <a:buNone/>
            </a:pPr>
            <a:r>
              <a:rPr lang="en-US" sz="1000" b="1" dirty="0">
                <a:solidFill>
                  <a:srgbClr val="2D3748"/>
                </a:solidFill>
              </a:rPr>
              <a:t>Formative Learning in AI Quiz</a:t>
            </a:r>
            <a:endParaRPr lang="en-US" sz="1000" dirty="0"/>
          </a:p>
        </p:txBody>
      </p:sp>
      <p:sp>
        <p:nvSpPr>
          <p:cNvPr id="12" name="Text 9"/>
          <p:cNvSpPr/>
          <p:nvPr/>
        </p:nvSpPr>
        <p:spPr>
          <a:xfrm>
            <a:off x="2743200" y="1188720"/>
            <a:ext cx="914400" cy="457200"/>
          </a:xfrm>
          <a:prstGeom prst="rect">
            <a:avLst/>
          </a:prstGeom>
          <a:noFill/>
          <a:ln/>
        </p:spPr>
        <p:txBody>
          <a:bodyPr wrap="square" rtlCol="0" anchor="ctr"/>
          <a:lstStyle/>
          <a:p>
            <a:pPr marL="0" indent="0" algn="ctr">
              <a:buNone/>
            </a:pPr>
            <a:r>
              <a:rPr lang="en-US" sz="2200" dirty="0">
                <a:solidFill>
                  <a:srgbClr val="A0AEC0"/>
                </a:solidFill>
              </a:rPr>
              <a:t>→</a:t>
            </a:r>
            <a:endParaRPr lang="en-US" sz="2200" dirty="0"/>
          </a:p>
        </p:txBody>
      </p:sp>
      <p:sp>
        <p:nvSpPr>
          <p:cNvPr id="13" name="Text 10"/>
          <p:cNvSpPr/>
          <p:nvPr/>
        </p:nvSpPr>
        <p:spPr>
          <a:xfrm>
            <a:off x="5486400" y="1051560"/>
            <a:ext cx="914400" cy="457200"/>
          </a:xfrm>
          <a:prstGeom prst="rect">
            <a:avLst/>
          </a:prstGeom>
          <a:noFill/>
          <a:ln/>
        </p:spPr>
        <p:txBody>
          <a:bodyPr wrap="square" rtlCol="0" anchor="ctr"/>
          <a:lstStyle/>
          <a:p>
            <a:pPr marL="0" indent="0" algn="ctr">
              <a:buNone/>
            </a:pPr>
            <a:r>
              <a:rPr lang="en-US" sz="2200" dirty="0">
                <a:solidFill>
                  <a:srgbClr val="A0AEC0"/>
                </a:solidFill>
              </a:rPr>
              <a:t>→</a:t>
            </a:r>
            <a:endParaRPr lang="en-US" sz="2200" dirty="0"/>
          </a:p>
        </p:txBody>
      </p:sp>
      <p:sp>
        <p:nvSpPr>
          <p:cNvPr id="14" name="Text 11"/>
          <p:cNvSpPr/>
          <p:nvPr/>
        </p:nvSpPr>
        <p:spPr>
          <a:xfrm>
            <a:off x="7086600" y="1874520"/>
            <a:ext cx="457200" cy="457200"/>
          </a:xfrm>
          <a:prstGeom prst="rect">
            <a:avLst/>
          </a:prstGeom>
          <a:noFill/>
          <a:ln/>
        </p:spPr>
        <p:txBody>
          <a:bodyPr wrap="square" rtlCol="0" anchor="ctr"/>
          <a:lstStyle/>
          <a:p>
            <a:pPr marL="0" indent="0" algn="ctr">
              <a:buNone/>
            </a:pPr>
            <a:r>
              <a:rPr lang="en-US" sz="2200" dirty="0">
                <a:solidFill>
                  <a:srgbClr val="A0AEC0"/>
                </a:solidFill>
              </a:rPr>
              <a:t>↓</a:t>
            </a:r>
            <a:endParaRPr lang="en-US" sz="2200" dirty="0"/>
          </a:p>
        </p:txBody>
      </p:sp>
      <p:sp>
        <p:nvSpPr>
          <p:cNvPr id="15" name="Text 12"/>
          <p:cNvSpPr/>
          <p:nvPr/>
        </p:nvSpPr>
        <p:spPr>
          <a:xfrm>
            <a:off x="2743200" y="2377440"/>
            <a:ext cx="914400" cy="457200"/>
          </a:xfrm>
          <a:prstGeom prst="rect">
            <a:avLst/>
          </a:prstGeom>
          <a:noFill/>
          <a:ln/>
        </p:spPr>
        <p:txBody>
          <a:bodyPr wrap="square" rtlCol="0" anchor="ctr"/>
          <a:lstStyle/>
          <a:p>
            <a:pPr marL="0" indent="0" algn="ctr">
              <a:buNone/>
            </a:pPr>
            <a:r>
              <a:rPr lang="en-US" sz="2200" dirty="0">
                <a:solidFill>
                  <a:srgbClr val="A0AEC0"/>
                </a:solidFill>
              </a:rPr>
              <a:t>←</a:t>
            </a:r>
            <a:endParaRPr lang="en-US" sz="2200" dirty="0"/>
          </a:p>
        </p:txBody>
      </p:sp>
      <p:sp>
        <p:nvSpPr>
          <p:cNvPr id="16" name="Text 13"/>
          <p:cNvSpPr/>
          <p:nvPr/>
        </p:nvSpPr>
        <p:spPr>
          <a:xfrm>
            <a:off x="1600200" y="1894398"/>
            <a:ext cx="457200" cy="457200"/>
          </a:xfrm>
          <a:prstGeom prst="rect">
            <a:avLst/>
          </a:prstGeom>
          <a:noFill/>
          <a:ln/>
        </p:spPr>
        <p:txBody>
          <a:bodyPr wrap="square" rtlCol="0" anchor="ctr"/>
          <a:lstStyle/>
          <a:p>
            <a:pPr marL="0" indent="0" algn="ctr">
              <a:buNone/>
            </a:pPr>
            <a:r>
              <a:rPr lang="en-US" sz="2200" dirty="0">
                <a:solidFill>
                  <a:srgbClr val="A0AEC0"/>
                </a:solidFill>
              </a:rPr>
              <a:t>↑</a:t>
            </a:r>
            <a:endParaRPr lang="en-US" sz="2200" dirty="0"/>
          </a:p>
        </p:txBody>
      </p:sp>
      <p:sp>
        <p:nvSpPr>
          <p:cNvPr id="17" name="Shape 14"/>
          <p:cNvSpPr/>
          <p:nvPr/>
        </p:nvSpPr>
        <p:spPr>
          <a:xfrm>
            <a:off x="274320" y="3319272"/>
            <a:ext cx="4114800" cy="1481328"/>
          </a:xfrm>
          <a:prstGeom prst="rect">
            <a:avLst/>
          </a:prstGeom>
          <a:solidFill>
            <a:srgbClr val="E6F4EA"/>
          </a:solidFill>
          <a:ln/>
        </p:spPr>
        <p:txBody>
          <a:bodyPr/>
          <a:lstStyle/>
          <a:p>
            <a:endParaRPr lang="en-US"/>
          </a:p>
        </p:txBody>
      </p:sp>
      <p:sp>
        <p:nvSpPr>
          <p:cNvPr id="19" name="Text 16"/>
          <p:cNvSpPr/>
          <p:nvPr/>
        </p:nvSpPr>
        <p:spPr>
          <a:xfrm>
            <a:off x="457200" y="3488436"/>
            <a:ext cx="3749040" cy="1143000"/>
          </a:xfrm>
          <a:prstGeom prst="rect">
            <a:avLst/>
          </a:prstGeom>
          <a:noFill/>
          <a:ln/>
        </p:spPr>
        <p:txBody>
          <a:bodyPr wrap="square" rtlCol="0" anchor="t"/>
          <a:lstStyle/>
          <a:p>
            <a:pPr marL="0" indent="0">
              <a:buNone/>
            </a:pPr>
            <a:r>
              <a:rPr lang="en-US" sz="1000" i="1" dirty="0">
                <a:solidFill>
                  <a:srgbClr val="4A5568"/>
                </a:solidFill>
              </a:rPr>
              <a:t>"I always had the agent walk back through the edits and explain what it did and WHY."
"Knowing I had to understand and explain it gives more motivation to understand what the code does."
"I did try to learn the material a bit more because of this."</a:t>
            </a:r>
            <a:endParaRPr lang="en-US" sz="1000" dirty="0"/>
          </a:p>
        </p:txBody>
      </p:sp>
      <p:sp>
        <p:nvSpPr>
          <p:cNvPr id="20" name="Shape 17"/>
          <p:cNvSpPr/>
          <p:nvPr/>
        </p:nvSpPr>
        <p:spPr>
          <a:xfrm>
            <a:off x="4663440" y="3319272"/>
            <a:ext cx="4114800" cy="1481328"/>
          </a:xfrm>
          <a:prstGeom prst="rect">
            <a:avLst/>
          </a:prstGeom>
          <a:solidFill>
            <a:srgbClr val="F0F4F8"/>
          </a:solidFill>
          <a:ln/>
        </p:spPr>
        <p:txBody>
          <a:bodyPr/>
          <a:lstStyle/>
          <a:p>
            <a:endParaRPr lang="en-US"/>
          </a:p>
        </p:txBody>
      </p:sp>
      <p:sp>
        <p:nvSpPr>
          <p:cNvPr id="22" name="Text 19"/>
          <p:cNvSpPr/>
          <p:nvPr/>
        </p:nvSpPr>
        <p:spPr>
          <a:xfrm>
            <a:off x="4846320" y="3479292"/>
            <a:ext cx="3749040" cy="1143000"/>
          </a:xfrm>
          <a:prstGeom prst="rect">
            <a:avLst/>
          </a:prstGeom>
          <a:noFill/>
          <a:ln/>
        </p:spPr>
        <p:txBody>
          <a:bodyPr wrap="square" rtlCol="0" anchor="t"/>
          <a:lstStyle/>
          <a:p>
            <a:pPr marL="0" indent="0">
              <a:buNone/>
            </a:pPr>
            <a:r>
              <a:rPr lang="en-US" sz="1100" dirty="0">
                <a:solidFill>
                  <a:srgbClr val="2D3748"/>
                </a:solidFill>
              </a:rPr>
              <a:t>Behavioral change scored </a:t>
            </a:r>
            <a:r>
              <a:rPr lang="en-US" sz="1400" b="1" dirty="0">
                <a:solidFill>
                  <a:srgbClr val="2D8A4E"/>
                </a:solidFill>
              </a:rPr>
              <a:t>75%</a:t>
            </a:r>
            <a:r>
              <a:rPr lang="en-US" sz="1100" dirty="0">
                <a:solidFill>
                  <a:srgbClr val="2D3748"/>
                </a:solidFill>
              </a:rPr>
              <a:t> on survey,
but qualitative data tells a richer story.
Students changed </a:t>
            </a:r>
            <a:r>
              <a:rPr lang="en-US" sz="1100" b="1" i="1" dirty="0">
                <a:solidFill>
                  <a:srgbClr val="2D8A4E"/>
                </a:solidFill>
              </a:rPr>
              <a:t>how</a:t>
            </a:r>
            <a:r>
              <a:rPr lang="en-US" sz="1100" dirty="0">
                <a:solidFill>
                  <a:srgbClr val="2D3748"/>
                </a:solidFill>
              </a:rPr>
              <a:t> they use AI, not just </a:t>
            </a:r>
            <a:r>
              <a:rPr lang="en-US" sz="1100" b="1" i="1" dirty="0">
                <a:solidFill>
                  <a:srgbClr val="2D8A4E"/>
                </a:solidFill>
              </a:rPr>
              <a:t>whether</a:t>
            </a:r>
            <a:r>
              <a:rPr lang="en-US" sz="1100" dirty="0">
                <a:solidFill>
                  <a:srgbClr val="2D3748"/>
                </a:solidFill>
              </a:rPr>
              <a:t> they use it.</a:t>
            </a:r>
            <a:endParaRPr lang="en-US" sz="1100" dirty="0"/>
          </a:p>
        </p:txBody>
      </p:sp>
      <p:sp>
        <p:nvSpPr>
          <p:cNvPr id="2" name="Text 10">
            <a:extLst>
              <a:ext uri="{FF2B5EF4-FFF2-40B4-BE49-F238E27FC236}">
                <a16:creationId xmlns:a16="http://schemas.microsoft.com/office/drawing/2014/main" id="{0F8E2B9F-6774-D0B3-15F0-36801C06C748}"/>
              </a:ext>
            </a:extLst>
          </p:cNvPr>
          <p:cNvSpPr/>
          <p:nvPr/>
        </p:nvSpPr>
        <p:spPr>
          <a:xfrm rot="10800000">
            <a:off x="5372100" y="2414016"/>
            <a:ext cx="914400" cy="457200"/>
          </a:xfrm>
          <a:prstGeom prst="rect">
            <a:avLst/>
          </a:prstGeom>
          <a:noFill/>
          <a:ln/>
        </p:spPr>
        <p:txBody>
          <a:bodyPr wrap="square" rtlCol="0" anchor="ctr"/>
          <a:lstStyle/>
          <a:p>
            <a:pPr marL="0" indent="0" algn="ctr">
              <a:buNone/>
            </a:pPr>
            <a:r>
              <a:rPr lang="en-US" sz="2200" dirty="0">
                <a:solidFill>
                  <a:srgbClr val="A0AEC0"/>
                </a:solidFill>
              </a:rPr>
              <a:t>→</a:t>
            </a:r>
            <a:endParaRPr lang="en-US"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0"/>
          <p:cNvSpPr/>
          <p:nvPr/>
        </p:nvSpPr>
        <p:spPr>
          <a:xfrm>
            <a:off x="731520" y="274320"/>
            <a:ext cx="7680960" cy="548640"/>
          </a:xfrm>
          <a:prstGeom prst="rect">
            <a:avLst/>
          </a:prstGeom>
          <a:noFill/>
          <a:ln/>
        </p:spPr>
        <p:txBody>
          <a:bodyPr wrap="square" rtlCol="0" anchor="ctr"/>
          <a:lstStyle/>
          <a:p>
            <a:pPr marL="0" indent="0">
              <a:buNone/>
            </a:pPr>
            <a:r>
              <a:rPr lang="en-US" sz="2600" b="1" dirty="0">
                <a:solidFill>
                  <a:srgbClr val="2D3748"/>
                </a:solidFill>
              </a:rPr>
              <a:t>Formative Engagement</a:t>
            </a:r>
            <a:endParaRPr lang="en-US" sz="2600" dirty="0"/>
          </a:p>
        </p:txBody>
      </p:sp>
      <p:sp>
        <p:nvSpPr>
          <p:cNvPr id="4" name="Text 1"/>
          <p:cNvSpPr/>
          <p:nvPr/>
        </p:nvSpPr>
        <p:spPr>
          <a:xfrm>
            <a:off x="457200" y="1005840"/>
            <a:ext cx="4114800" cy="274320"/>
          </a:xfrm>
          <a:prstGeom prst="rect">
            <a:avLst/>
          </a:prstGeom>
          <a:noFill/>
          <a:ln/>
        </p:spPr>
        <p:txBody>
          <a:bodyPr wrap="square" rtlCol="0" anchor="ctr"/>
          <a:lstStyle/>
          <a:p>
            <a:pPr marL="0" indent="0">
              <a:buNone/>
            </a:pPr>
            <a:r>
              <a:rPr lang="en-US" sz="1100" b="1" dirty="0">
                <a:solidFill>
                  <a:srgbClr val="2D3748"/>
                </a:solidFill>
              </a:rPr>
              <a:t>PREFERRED ASSESSMENT FORMAT</a:t>
            </a:r>
            <a:endParaRPr lang="en-US" sz="1100" dirty="0"/>
          </a:p>
        </p:txBody>
      </p:sp>
      <p:sp>
        <p:nvSpPr>
          <p:cNvPr id="5" name="Text 2"/>
          <p:cNvSpPr/>
          <p:nvPr/>
        </p:nvSpPr>
        <p:spPr>
          <a:xfrm>
            <a:off x="457200" y="1234440"/>
            <a:ext cx="4114800" cy="228600"/>
          </a:xfrm>
          <a:prstGeom prst="rect">
            <a:avLst/>
          </a:prstGeom>
          <a:noFill/>
          <a:ln/>
        </p:spPr>
        <p:txBody>
          <a:bodyPr wrap="square" rtlCol="0" anchor="ctr"/>
          <a:lstStyle/>
          <a:p>
            <a:pPr marL="0" indent="0">
              <a:buNone/>
            </a:pPr>
            <a:r>
              <a:rPr lang="en-US" sz="900" dirty="0">
                <a:solidFill>
                  <a:srgbClr val="A0AEC0"/>
                </a:solidFill>
              </a:rPr>
              <a:t>Avg rank (lower = more preferred)</a:t>
            </a:r>
            <a:endParaRPr lang="en-US" sz="900" dirty="0"/>
          </a:p>
        </p:txBody>
      </p:sp>
      <p:sp>
        <p:nvSpPr>
          <p:cNvPr id="6" name="Text 3"/>
          <p:cNvSpPr/>
          <p:nvPr/>
        </p:nvSpPr>
        <p:spPr>
          <a:xfrm>
            <a:off x="274320" y="1645920"/>
            <a:ext cx="1828800" cy="365760"/>
          </a:xfrm>
          <a:prstGeom prst="rect">
            <a:avLst/>
          </a:prstGeom>
          <a:noFill/>
          <a:ln/>
        </p:spPr>
        <p:txBody>
          <a:bodyPr wrap="square" rtlCol="0" anchor="ctr"/>
          <a:lstStyle/>
          <a:p>
            <a:pPr marL="0" indent="0" algn="r">
              <a:buNone/>
            </a:pPr>
            <a:r>
              <a:rPr lang="en-US" sz="1100" dirty="0">
                <a:solidFill>
                  <a:srgbClr val="4A5568"/>
                </a:solidFill>
              </a:rPr>
              <a:t>AI quiz (own code)</a:t>
            </a:r>
            <a:endParaRPr lang="en-US" sz="1100" dirty="0"/>
          </a:p>
        </p:txBody>
      </p:sp>
      <p:sp>
        <p:nvSpPr>
          <p:cNvPr id="7" name="Shape 4"/>
          <p:cNvSpPr/>
          <p:nvPr/>
        </p:nvSpPr>
        <p:spPr>
          <a:xfrm>
            <a:off x="2194560" y="1709928"/>
            <a:ext cx="1783080" cy="256032"/>
          </a:xfrm>
          <a:prstGeom prst="rect">
            <a:avLst/>
          </a:prstGeom>
          <a:solidFill>
            <a:srgbClr val="2D8A4E"/>
          </a:solidFill>
          <a:ln/>
        </p:spPr>
        <p:txBody>
          <a:bodyPr/>
          <a:lstStyle/>
          <a:p>
            <a:endParaRPr lang="en-US"/>
          </a:p>
        </p:txBody>
      </p:sp>
      <p:sp>
        <p:nvSpPr>
          <p:cNvPr id="8" name="Text 5"/>
          <p:cNvSpPr/>
          <p:nvPr/>
        </p:nvSpPr>
        <p:spPr>
          <a:xfrm>
            <a:off x="4069080" y="1645920"/>
            <a:ext cx="548640" cy="365760"/>
          </a:xfrm>
          <a:prstGeom prst="rect">
            <a:avLst/>
          </a:prstGeom>
          <a:noFill/>
          <a:ln/>
        </p:spPr>
        <p:txBody>
          <a:bodyPr wrap="square" rtlCol="0" anchor="ctr"/>
          <a:lstStyle/>
          <a:p>
            <a:pPr marL="0" indent="0">
              <a:buNone/>
            </a:pPr>
            <a:r>
              <a:rPr lang="en-US" sz="1000" dirty="0">
                <a:solidFill>
                  <a:srgbClr val="A0AEC0"/>
                </a:solidFill>
              </a:rPr>
              <a:t>1.75</a:t>
            </a:r>
            <a:endParaRPr lang="en-US" sz="1000" dirty="0"/>
          </a:p>
        </p:txBody>
      </p:sp>
      <p:sp>
        <p:nvSpPr>
          <p:cNvPr id="9" name="Text 6"/>
          <p:cNvSpPr/>
          <p:nvPr/>
        </p:nvSpPr>
        <p:spPr>
          <a:xfrm>
            <a:off x="274320" y="2148840"/>
            <a:ext cx="1828800" cy="365760"/>
          </a:xfrm>
          <a:prstGeom prst="rect">
            <a:avLst/>
          </a:prstGeom>
          <a:noFill/>
          <a:ln/>
        </p:spPr>
        <p:txBody>
          <a:bodyPr wrap="square" rtlCol="0" anchor="ctr"/>
          <a:lstStyle/>
          <a:p>
            <a:pPr marL="0" indent="0" algn="r">
              <a:buNone/>
            </a:pPr>
            <a:r>
              <a:rPr lang="en-US" sz="1100" dirty="0">
                <a:solidFill>
                  <a:srgbClr val="4A5568"/>
                </a:solidFill>
              </a:rPr>
              <a:t>No assessment</a:t>
            </a:r>
            <a:endParaRPr lang="en-US" sz="1100" dirty="0"/>
          </a:p>
        </p:txBody>
      </p:sp>
      <p:sp>
        <p:nvSpPr>
          <p:cNvPr id="10" name="Shape 7"/>
          <p:cNvSpPr/>
          <p:nvPr/>
        </p:nvSpPr>
        <p:spPr>
          <a:xfrm>
            <a:off x="2194560" y="2212848"/>
            <a:ext cx="1338682" cy="256032"/>
          </a:xfrm>
          <a:prstGeom prst="rect">
            <a:avLst/>
          </a:prstGeom>
          <a:solidFill>
            <a:srgbClr val="A0AEC0"/>
          </a:solidFill>
          <a:ln/>
        </p:spPr>
        <p:txBody>
          <a:bodyPr/>
          <a:lstStyle/>
          <a:p>
            <a:endParaRPr lang="en-US"/>
          </a:p>
        </p:txBody>
      </p:sp>
      <p:sp>
        <p:nvSpPr>
          <p:cNvPr id="11" name="Text 8"/>
          <p:cNvSpPr/>
          <p:nvPr/>
        </p:nvSpPr>
        <p:spPr>
          <a:xfrm>
            <a:off x="3624682" y="2148840"/>
            <a:ext cx="548640" cy="365760"/>
          </a:xfrm>
          <a:prstGeom prst="rect">
            <a:avLst/>
          </a:prstGeom>
          <a:noFill/>
          <a:ln/>
        </p:spPr>
        <p:txBody>
          <a:bodyPr wrap="square" rtlCol="0" anchor="ctr"/>
          <a:lstStyle/>
          <a:p>
            <a:pPr marL="0" indent="0">
              <a:buNone/>
            </a:pPr>
            <a:r>
              <a:rPr lang="en-US" sz="1000" dirty="0">
                <a:solidFill>
                  <a:srgbClr val="A0AEC0"/>
                </a:solidFill>
              </a:rPr>
              <a:t>2.56</a:t>
            </a:r>
            <a:endParaRPr lang="en-US" sz="1000" dirty="0"/>
          </a:p>
        </p:txBody>
      </p:sp>
      <p:sp>
        <p:nvSpPr>
          <p:cNvPr id="12" name="Text 9"/>
          <p:cNvSpPr/>
          <p:nvPr/>
        </p:nvSpPr>
        <p:spPr>
          <a:xfrm>
            <a:off x="274320" y="2651760"/>
            <a:ext cx="1828800" cy="365760"/>
          </a:xfrm>
          <a:prstGeom prst="rect">
            <a:avLst/>
          </a:prstGeom>
          <a:noFill/>
          <a:ln/>
        </p:spPr>
        <p:txBody>
          <a:bodyPr wrap="square" rtlCol="0" anchor="ctr"/>
          <a:lstStyle/>
          <a:p>
            <a:pPr marL="0" indent="0" algn="r">
              <a:buNone/>
            </a:pPr>
            <a:r>
              <a:rPr lang="en-US" sz="1100" dirty="0">
                <a:solidFill>
                  <a:srgbClr val="4A5568"/>
                </a:solidFill>
              </a:rPr>
              <a:t>AI quiz (generic)</a:t>
            </a:r>
            <a:endParaRPr lang="en-US" sz="1100" dirty="0"/>
          </a:p>
        </p:txBody>
      </p:sp>
      <p:sp>
        <p:nvSpPr>
          <p:cNvPr id="13" name="Shape 10"/>
          <p:cNvSpPr/>
          <p:nvPr/>
        </p:nvSpPr>
        <p:spPr>
          <a:xfrm>
            <a:off x="2194560" y="2715768"/>
            <a:ext cx="1064362" cy="256032"/>
          </a:xfrm>
          <a:prstGeom prst="rect">
            <a:avLst/>
          </a:prstGeom>
          <a:solidFill>
            <a:srgbClr val="4A80C4"/>
          </a:solidFill>
          <a:ln/>
        </p:spPr>
        <p:txBody>
          <a:bodyPr/>
          <a:lstStyle/>
          <a:p>
            <a:endParaRPr lang="en-US"/>
          </a:p>
        </p:txBody>
      </p:sp>
      <p:sp>
        <p:nvSpPr>
          <p:cNvPr id="14" name="Text 11"/>
          <p:cNvSpPr/>
          <p:nvPr/>
        </p:nvSpPr>
        <p:spPr>
          <a:xfrm>
            <a:off x="3350362" y="2651760"/>
            <a:ext cx="548640" cy="365760"/>
          </a:xfrm>
          <a:prstGeom prst="rect">
            <a:avLst/>
          </a:prstGeom>
          <a:noFill/>
          <a:ln/>
        </p:spPr>
        <p:txBody>
          <a:bodyPr wrap="square" rtlCol="0" anchor="ctr"/>
          <a:lstStyle/>
          <a:p>
            <a:pPr marL="0" indent="0">
              <a:buNone/>
            </a:pPr>
            <a:r>
              <a:rPr lang="en-US" sz="1000" dirty="0">
                <a:solidFill>
                  <a:srgbClr val="A0AEC0"/>
                </a:solidFill>
              </a:rPr>
              <a:t>3.06</a:t>
            </a:r>
            <a:endParaRPr lang="en-US" sz="1000" dirty="0"/>
          </a:p>
        </p:txBody>
      </p:sp>
      <p:sp>
        <p:nvSpPr>
          <p:cNvPr id="15" name="Text 12"/>
          <p:cNvSpPr/>
          <p:nvPr/>
        </p:nvSpPr>
        <p:spPr>
          <a:xfrm>
            <a:off x="274320" y="3154680"/>
            <a:ext cx="1828800" cy="365760"/>
          </a:xfrm>
          <a:prstGeom prst="rect">
            <a:avLst/>
          </a:prstGeom>
          <a:noFill/>
          <a:ln/>
        </p:spPr>
        <p:txBody>
          <a:bodyPr wrap="square" rtlCol="0" anchor="ctr"/>
          <a:lstStyle/>
          <a:p>
            <a:pPr marL="0" indent="0" algn="r">
              <a:buNone/>
            </a:pPr>
            <a:r>
              <a:rPr lang="en-US" sz="1100" dirty="0">
                <a:solidFill>
                  <a:srgbClr val="4A5568"/>
                </a:solidFill>
              </a:rPr>
              <a:t>Traditional MC</a:t>
            </a:r>
            <a:endParaRPr lang="en-US" sz="1100" dirty="0"/>
          </a:p>
        </p:txBody>
      </p:sp>
      <p:sp>
        <p:nvSpPr>
          <p:cNvPr id="16" name="Shape 13"/>
          <p:cNvSpPr/>
          <p:nvPr/>
        </p:nvSpPr>
        <p:spPr>
          <a:xfrm>
            <a:off x="2194560" y="3218688"/>
            <a:ext cx="855878" cy="256032"/>
          </a:xfrm>
          <a:prstGeom prst="rect">
            <a:avLst/>
          </a:prstGeom>
          <a:solidFill>
            <a:srgbClr val="A0AEC0"/>
          </a:solidFill>
          <a:ln/>
        </p:spPr>
        <p:txBody>
          <a:bodyPr/>
          <a:lstStyle/>
          <a:p>
            <a:endParaRPr lang="en-US"/>
          </a:p>
        </p:txBody>
      </p:sp>
      <p:sp>
        <p:nvSpPr>
          <p:cNvPr id="17" name="Text 14"/>
          <p:cNvSpPr/>
          <p:nvPr/>
        </p:nvSpPr>
        <p:spPr>
          <a:xfrm>
            <a:off x="3141878" y="3154680"/>
            <a:ext cx="548640" cy="365760"/>
          </a:xfrm>
          <a:prstGeom prst="rect">
            <a:avLst/>
          </a:prstGeom>
          <a:noFill/>
          <a:ln/>
        </p:spPr>
        <p:txBody>
          <a:bodyPr wrap="square" rtlCol="0" anchor="ctr"/>
          <a:lstStyle/>
          <a:p>
            <a:pPr marL="0" indent="0">
              <a:buNone/>
            </a:pPr>
            <a:r>
              <a:rPr lang="en-US" sz="1000" dirty="0">
                <a:solidFill>
                  <a:srgbClr val="A0AEC0"/>
                </a:solidFill>
              </a:rPr>
              <a:t>3.44</a:t>
            </a:r>
            <a:endParaRPr lang="en-US" sz="1000" dirty="0"/>
          </a:p>
        </p:txBody>
      </p:sp>
      <p:sp>
        <p:nvSpPr>
          <p:cNvPr id="18" name="Text 15"/>
          <p:cNvSpPr/>
          <p:nvPr/>
        </p:nvSpPr>
        <p:spPr>
          <a:xfrm>
            <a:off x="274320" y="3657600"/>
            <a:ext cx="1828800" cy="365760"/>
          </a:xfrm>
          <a:prstGeom prst="rect">
            <a:avLst/>
          </a:prstGeom>
          <a:noFill/>
          <a:ln/>
        </p:spPr>
        <p:txBody>
          <a:bodyPr wrap="square" rtlCol="0" anchor="ctr"/>
          <a:lstStyle/>
          <a:p>
            <a:pPr marL="0" indent="0" algn="r">
              <a:buNone/>
            </a:pPr>
            <a:r>
              <a:rPr lang="en-US" sz="1100" dirty="0">
                <a:solidFill>
                  <a:srgbClr val="4A5568"/>
                </a:solidFill>
              </a:rPr>
              <a:t>Written exam</a:t>
            </a:r>
            <a:endParaRPr lang="en-US" sz="1100" dirty="0"/>
          </a:p>
        </p:txBody>
      </p:sp>
      <p:sp>
        <p:nvSpPr>
          <p:cNvPr id="19" name="Shape 16"/>
          <p:cNvSpPr/>
          <p:nvPr/>
        </p:nvSpPr>
        <p:spPr>
          <a:xfrm>
            <a:off x="2194560" y="3721608"/>
            <a:ext cx="444398" cy="256032"/>
          </a:xfrm>
          <a:prstGeom prst="rect">
            <a:avLst/>
          </a:prstGeom>
          <a:solidFill>
            <a:srgbClr val="D06070"/>
          </a:solidFill>
          <a:ln/>
        </p:spPr>
        <p:txBody>
          <a:bodyPr/>
          <a:lstStyle/>
          <a:p>
            <a:endParaRPr lang="en-US"/>
          </a:p>
        </p:txBody>
      </p:sp>
      <p:sp>
        <p:nvSpPr>
          <p:cNvPr id="20" name="Text 17"/>
          <p:cNvSpPr/>
          <p:nvPr/>
        </p:nvSpPr>
        <p:spPr>
          <a:xfrm>
            <a:off x="2730398" y="3657600"/>
            <a:ext cx="548640" cy="365760"/>
          </a:xfrm>
          <a:prstGeom prst="rect">
            <a:avLst/>
          </a:prstGeom>
          <a:noFill/>
          <a:ln/>
        </p:spPr>
        <p:txBody>
          <a:bodyPr wrap="square" rtlCol="0" anchor="ctr"/>
          <a:lstStyle/>
          <a:p>
            <a:pPr marL="0" indent="0">
              <a:buNone/>
            </a:pPr>
            <a:r>
              <a:rPr lang="en-US" sz="1000" dirty="0">
                <a:solidFill>
                  <a:srgbClr val="A0AEC0"/>
                </a:solidFill>
              </a:rPr>
              <a:t>4.19</a:t>
            </a:r>
            <a:endParaRPr lang="en-US" sz="1000" dirty="0"/>
          </a:p>
        </p:txBody>
      </p:sp>
      <p:sp>
        <p:nvSpPr>
          <p:cNvPr id="21" name="Shape 18"/>
          <p:cNvSpPr/>
          <p:nvPr/>
        </p:nvSpPr>
        <p:spPr>
          <a:xfrm>
            <a:off x="4572000" y="1005840"/>
            <a:ext cx="4206240" cy="3108960"/>
          </a:xfrm>
          <a:prstGeom prst="rect">
            <a:avLst/>
          </a:prstGeom>
          <a:solidFill>
            <a:srgbClr val="E6F4EA"/>
          </a:solidFill>
          <a:ln/>
        </p:spPr>
        <p:txBody>
          <a:bodyPr/>
          <a:lstStyle/>
          <a:p>
            <a:endParaRPr lang="en-US"/>
          </a:p>
        </p:txBody>
      </p:sp>
      <p:sp>
        <p:nvSpPr>
          <p:cNvPr id="22" name="Text 19"/>
          <p:cNvSpPr/>
          <p:nvPr/>
        </p:nvSpPr>
        <p:spPr>
          <a:xfrm>
            <a:off x="4754880" y="1463040"/>
            <a:ext cx="3840480" cy="777240"/>
          </a:xfrm>
          <a:prstGeom prst="rect">
            <a:avLst/>
          </a:prstGeom>
          <a:noFill/>
          <a:ln/>
        </p:spPr>
        <p:txBody>
          <a:bodyPr wrap="square" rtlCol="0" anchor="t"/>
          <a:lstStyle/>
          <a:p>
            <a:pPr marL="0" indent="0">
              <a:buNone/>
            </a:pPr>
            <a:r>
              <a:rPr lang="en-US" sz="1400" i="1" dirty="0">
                <a:solidFill>
                  <a:srgbClr val="4A5568"/>
                </a:solidFill>
              </a:rPr>
              <a:t>"I always had the agent walk back through the edits... This vastly helped understand not just my code but the tools we learned in class."</a:t>
            </a:r>
            <a:endParaRPr lang="en-US" sz="1400" dirty="0"/>
          </a:p>
        </p:txBody>
      </p:sp>
      <p:sp>
        <p:nvSpPr>
          <p:cNvPr id="23" name="Text 20"/>
          <p:cNvSpPr/>
          <p:nvPr/>
        </p:nvSpPr>
        <p:spPr>
          <a:xfrm>
            <a:off x="4754880" y="2331720"/>
            <a:ext cx="3840480" cy="777240"/>
          </a:xfrm>
          <a:prstGeom prst="rect">
            <a:avLst/>
          </a:prstGeom>
          <a:noFill/>
          <a:ln/>
        </p:spPr>
        <p:txBody>
          <a:bodyPr wrap="square" rtlCol="0" anchor="t"/>
          <a:lstStyle/>
          <a:p>
            <a:pPr marL="0" indent="0">
              <a:buNone/>
            </a:pPr>
            <a:r>
              <a:rPr lang="en-US" sz="1400" i="1" dirty="0">
                <a:solidFill>
                  <a:srgbClr val="4A5568"/>
                </a:solidFill>
              </a:rPr>
              <a:t>"Knowing I had to understand and explain it gives more motivation... even though the punishment doesn't feel severe."</a:t>
            </a:r>
            <a:endParaRPr lang="en-US" sz="1400" dirty="0"/>
          </a:p>
        </p:txBody>
      </p:sp>
      <p:sp>
        <p:nvSpPr>
          <p:cNvPr id="24" name="Text 21"/>
          <p:cNvSpPr/>
          <p:nvPr/>
        </p:nvSpPr>
        <p:spPr>
          <a:xfrm>
            <a:off x="4754880" y="3200400"/>
            <a:ext cx="3840480" cy="777240"/>
          </a:xfrm>
          <a:prstGeom prst="rect">
            <a:avLst/>
          </a:prstGeom>
          <a:noFill/>
          <a:ln/>
        </p:spPr>
        <p:txBody>
          <a:bodyPr wrap="square" rtlCol="0" anchor="t"/>
          <a:lstStyle/>
          <a:p>
            <a:pPr marL="0" indent="0">
              <a:buNone/>
            </a:pPr>
            <a:r>
              <a:rPr lang="en-US" sz="1400" i="1" dirty="0">
                <a:solidFill>
                  <a:srgbClr val="4A5568"/>
                </a:solidFill>
              </a:rPr>
              <a:t>"Writing out how I understood state and React while taking the quiz made me learn it better."</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0"/>
          <p:cNvSpPr/>
          <p:nvPr/>
        </p:nvSpPr>
        <p:spPr>
          <a:xfrm>
            <a:off x="2103120" y="914400"/>
            <a:ext cx="2194560" cy="1280160"/>
          </a:xfrm>
          <a:prstGeom prst="rect">
            <a:avLst/>
          </a:prstGeom>
          <a:noFill/>
          <a:ln/>
        </p:spPr>
        <p:txBody>
          <a:bodyPr wrap="square" rtlCol="0" anchor="ctr"/>
          <a:lstStyle/>
          <a:p>
            <a:pPr marL="0" indent="0" algn="ctr">
              <a:buNone/>
            </a:pPr>
            <a:r>
              <a:rPr lang="en-US" sz="5400" dirty="0">
                <a:solidFill>
                  <a:srgbClr val="000000"/>
                </a:solidFill>
              </a:rPr>
              <a:t>🍎</a:t>
            </a:r>
            <a:endParaRPr lang="en-US" sz="5400" dirty="0"/>
          </a:p>
        </p:txBody>
      </p:sp>
      <p:sp>
        <p:nvSpPr>
          <p:cNvPr id="4" name="Text 1"/>
          <p:cNvSpPr/>
          <p:nvPr/>
        </p:nvSpPr>
        <p:spPr>
          <a:xfrm>
            <a:off x="1828801" y="1920240"/>
            <a:ext cx="2743199" cy="731520"/>
          </a:xfrm>
          <a:prstGeom prst="rect">
            <a:avLst/>
          </a:prstGeom>
          <a:noFill/>
          <a:ln/>
        </p:spPr>
        <p:txBody>
          <a:bodyPr wrap="square" rtlCol="0" anchor="ctr"/>
          <a:lstStyle/>
          <a:p>
            <a:pPr marL="0" indent="0" algn="ctr">
              <a:buNone/>
            </a:pPr>
            <a:r>
              <a:rPr lang="en-US" sz="3600" b="1" dirty="0">
                <a:solidFill>
                  <a:srgbClr val="2D3748"/>
                </a:solidFill>
              </a:rPr>
              <a:t>Thank You</a:t>
            </a:r>
            <a:endParaRPr lang="en-US" sz="3600" dirty="0"/>
          </a:p>
        </p:txBody>
      </p:sp>
      <p:sp>
        <p:nvSpPr>
          <p:cNvPr id="5" name="Shape 2"/>
          <p:cNvSpPr/>
          <p:nvPr/>
        </p:nvSpPr>
        <p:spPr>
          <a:xfrm>
            <a:off x="1828800" y="2651760"/>
            <a:ext cx="5486400" cy="1828800"/>
          </a:xfrm>
          <a:prstGeom prst="rect">
            <a:avLst/>
          </a:prstGeom>
          <a:solidFill>
            <a:srgbClr val="E6F4EA"/>
          </a:solidFill>
          <a:ln/>
        </p:spPr>
        <p:txBody>
          <a:bodyPr/>
          <a:lstStyle/>
          <a:p>
            <a:endParaRPr lang="en-US"/>
          </a:p>
        </p:txBody>
      </p:sp>
      <p:sp>
        <p:nvSpPr>
          <p:cNvPr id="6" name="Text 3"/>
          <p:cNvSpPr/>
          <p:nvPr/>
        </p:nvSpPr>
        <p:spPr>
          <a:xfrm>
            <a:off x="2011680" y="2743200"/>
            <a:ext cx="5120640" cy="1645920"/>
          </a:xfrm>
          <a:prstGeom prst="rect">
            <a:avLst/>
          </a:prstGeom>
          <a:noFill/>
          <a:ln/>
        </p:spPr>
        <p:txBody>
          <a:bodyPr wrap="square" rtlCol="0" anchor="ctr"/>
          <a:lstStyle/>
          <a:p>
            <a:pPr marL="0" indent="0" algn="ctr">
              <a:buNone/>
            </a:pPr>
            <a:r>
              <a:rPr lang="en-US" sz="1800" b="1" dirty="0">
                <a:solidFill>
                  <a:srgbClr val="2D3748"/>
                </a:solidFill>
              </a:rPr>
              <a:t>Tim Tregubov &amp; Pape Sow Traore
</a:t>
            </a:r>
            <a:r>
              <a:rPr lang="en-US" sz="1400" dirty="0">
                <a:solidFill>
                  <a:srgbClr val="718096"/>
                </a:solidFill>
              </a:rPr>
              <a:t>DALI Lab, Dartmouth College
</a:t>
            </a:r>
            <a:r>
              <a:rPr lang="en-US" sz="1400" dirty="0">
                <a:solidFill>
                  <a:srgbClr val="2D8A4E"/>
                </a:solidFill>
              </a:rPr>
              <a:t>classmoji.io</a:t>
            </a:r>
            <a:r>
              <a:rPr lang="en-US" sz="1400" dirty="0">
                <a:solidFill>
                  <a:srgbClr val="A0AEC0"/>
                </a:solidFill>
              </a:rPr>
              <a:t>  •  </a:t>
            </a:r>
            <a:r>
              <a:rPr lang="en-US" sz="1400" dirty="0">
                <a:solidFill>
                  <a:srgbClr val="2D8A4E"/>
                </a:solidFill>
              </a:rPr>
              <a:t>github.com/classmoji
</a:t>
            </a:r>
            <a:r>
              <a:rPr lang="en-US" sz="1300" dirty="0">
                <a:solidFill>
                  <a:srgbClr val="4A5568"/>
                </a:solidFill>
              </a:rPr>
              <a:t>hello@classmoji.io</a:t>
            </a:r>
            <a:endParaRPr lang="en-US" sz="1800" dirty="0"/>
          </a:p>
        </p:txBody>
      </p:sp>
      <p:sp>
        <p:nvSpPr>
          <p:cNvPr id="7" name="Text 4"/>
          <p:cNvSpPr/>
          <p:nvPr/>
        </p:nvSpPr>
        <p:spPr>
          <a:xfrm>
            <a:off x="731520" y="4572000"/>
            <a:ext cx="7680960" cy="365760"/>
          </a:xfrm>
          <a:prstGeom prst="rect">
            <a:avLst/>
          </a:prstGeom>
          <a:noFill/>
          <a:ln/>
        </p:spPr>
        <p:txBody>
          <a:bodyPr wrap="square" rtlCol="0" anchor="ctr"/>
          <a:lstStyle/>
          <a:p>
            <a:pPr marL="0" indent="0" algn="ctr">
              <a:buNone/>
            </a:pPr>
            <a:r>
              <a:rPr lang="en-US" sz="1600" dirty="0">
                <a:solidFill>
                  <a:srgbClr val="718096"/>
                </a:solidFill>
              </a:rPr>
              <a:t>Questions?</a:t>
            </a:r>
            <a:endParaRPr lang="en-US" sz="1600" dirty="0"/>
          </a:p>
        </p:txBody>
      </p:sp>
      <p:pic>
        <p:nvPicPr>
          <p:cNvPr id="8" name="Picture 7" descr="A cartoon character with mouth open and mouth open&#10;&#10;AI-generated content may be incorrect.">
            <a:extLst>
              <a:ext uri="{FF2B5EF4-FFF2-40B4-BE49-F238E27FC236}">
                <a16:creationId xmlns:a16="http://schemas.microsoft.com/office/drawing/2014/main" id="{A85AD9B1-19AE-B371-D87C-62105BB85A06}"/>
              </a:ext>
            </a:extLst>
          </p:cNvPr>
          <p:cNvPicPr>
            <a:picLocks noChangeAspect="1"/>
          </p:cNvPicPr>
          <p:nvPr/>
        </p:nvPicPr>
        <p:blipFill>
          <a:blip r:embed="rId3"/>
          <a:stretch>
            <a:fillRect/>
          </a:stretch>
        </p:blipFill>
        <p:spPr>
          <a:xfrm>
            <a:off x="4199467" y="362169"/>
            <a:ext cx="4106333" cy="228959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24663</TotalTime>
  <Words>1785</Words>
  <Application>Microsoft Macintosh PowerPoint</Application>
  <PresentationFormat>On-screen Show (16:9)</PresentationFormat>
  <Paragraphs>193</Paragraphs>
  <Slides>18</Slides>
  <Notes>18</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18</vt:i4>
      </vt:variant>
    </vt:vector>
  </HeadingPairs>
  <TitlesOfParts>
    <vt:vector size="20"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AI-Driven Oral Examinations for Code Assessment</dc:title>
  <dc:subject>SIGCSE 2026</dc:subject>
  <dc:creator>Tim Tregubov</dc:creator>
  <cp:lastModifiedBy>Tim Tregubov</cp:lastModifiedBy>
  <cp:revision>30</cp:revision>
  <dcterms:created xsi:type="dcterms:W3CDTF">2026-02-20T04:18:13Z</dcterms:created>
  <dcterms:modified xsi:type="dcterms:W3CDTF">2026-03-23T08:28:59Z</dcterms:modified>
</cp:coreProperties>
</file>